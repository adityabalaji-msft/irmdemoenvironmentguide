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slide. Set context: This deck captures the monetization strategy aligned in the July 21 strategy session. Purpose is to document the rationale for LT/Finance.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headline decisions. Keep this crisp — this is the 'so what'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context: why we need a clear strategy now. Three converging forces.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Strongest message from the meeting. Amit was clear: do not lead with margin. Lead with adoption. Frame IRM differently from mature infra services.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Amit emphasized: stop relitigating the decision. Document it, reference it, move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'hook' concept was central. Give enough value free to prove the product, then convert. Don't gate everything behind a paywall from day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Core structural decision: don't couple IRM and Agent pricing. Each needs room to evolve. Agent value curve is still TBD — that's a product exercise, not pricing.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Don't jump to bundles. Price capabilities individually to learn what customers value. Bundle later when you have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Clear delineation: assessment and visibility are free (the hook). Action-oriented capabilities (drills, recovery, advanced features) are paid.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direct with Finance: margin expectations from Compute/Storage don't apply here. This is early stage. Adoption is the metric that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Kirushna raised this: we can't price the agent until we understand its value curve. This is a product strategy workstream, not a pricing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Don't leave money on the table. The value of preventing a zone outage is massive. Price should reflect that, even with a freemium entry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 slide. Use this as the anchor when presenting to LT/Finance.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Action items with owners. Review and assign dates in the next sync.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slide. Leave this on screen for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IRM &amp;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0">
                <a:solidFill>
                  <a:srgbClr val="50E6FF"/>
                </a:solidFill>
              </a:defRPr>
            </a:pPr>
            <a:r>
              <a:t>Monetization Strategy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840480"/>
            <a:ext cx="11064240" cy="54864"/>
          </a:xfrm>
          <a:prstGeom prst="rect">
            <a:avLst/>
          </a:prstGeom>
          <a:solidFill>
            <a:srgbClr val="5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Proposed Business Model, Principles &amp; Rationale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E6FF"/>
                </a:solidFill>
              </a:defRPr>
            </a:pPr>
            <a:r>
              <a:t>July 2026  •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2B5C"/>
                </a:solidFill>
              </a:defRPr>
            </a:pPr>
            <a:r>
              <a:t>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064240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242424"/>
                </a:solidFill>
              </a:defRPr>
            </a:pPr>
            <a:r>
              <a:t>The team aligned on three key decisions:</a:t>
            </a:r>
          </a:p>
          <a:p>
            <a:pPr>
              <a:spcAft>
                <a:spcPts val="800"/>
              </a:spcAft>
              <a:defRPr sz="1800" b="0">
                <a:solidFill>
                  <a:srgbClr val="242424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242424"/>
                </a:solidFill>
              </a:defRPr>
            </a:pPr>
            <a:r>
              <a:t>1.  IRM and Agent monetization should be treated separately</a:t>
            </a:r>
          </a:p>
          <a:p>
            <a:pPr>
              <a:spcAft>
                <a:spcPts val="800"/>
              </a:spcAft>
              <a:defRPr sz="1800" b="0">
                <a:solidFill>
                  <a:srgbClr val="242424"/>
                </a:solidFill>
              </a:defRPr>
            </a:pPr>
            <a:r>
              <a:t>     IRM capabilities priced independently from Agent usage, giving flexibility</a:t>
            </a:r>
          </a:p>
          <a:p>
            <a:pPr>
              <a:spcAft>
                <a:spcPts val="800"/>
              </a:spcAft>
              <a:defRPr sz="1800" b="0">
                <a:solidFill>
                  <a:srgbClr val="242424"/>
                </a:solidFill>
              </a:defRPr>
            </a:pPr>
            <a:r>
              <a:t>     to evolve each without blocking the other.</a:t>
            </a:r>
          </a:p>
          <a:p>
            <a:pPr>
              <a:spcAft>
                <a:spcPts val="800"/>
              </a:spcAft>
              <a:defRPr sz="1800" b="0">
                <a:solidFill>
                  <a:srgbClr val="242424"/>
                </a:solidFill>
              </a:defRPr>
            </a:pPr>
          </a:p>
          <a:p>
            <a:pPr>
              <a:spcAft>
                <a:spcPts val="800"/>
              </a:spcAft>
              <a:defRPr sz="1800" b="0">
                <a:solidFill>
                  <a:srgbClr val="242424"/>
                </a:solidFill>
              </a:defRPr>
            </a:pPr>
            <a:r>
              <a:t>2.  Proceed with Option B (adoption-first pricing)</a:t>
            </a:r>
          </a:p>
          <a:p>
            <a:pPr>
              <a:spcAft>
                <a:spcPts val="800"/>
              </a:spcAft>
              <a:defRPr sz="1800" b="1">
                <a:solidFill>
                  <a:srgbClr val="242424"/>
                </a:solidFill>
              </a:defRPr>
            </a:pPr>
            <a:r>
              <a:t>     Free/freemium entry point with capability-level paid tiers.</a:t>
            </a:r>
          </a:p>
          <a:p>
            <a:pPr>
              <a:spcAft>
                <a:spcPts val="800"/>
              </a:spcAft>
              <a:defRPr sz="1800" b="0">
                <a:solidFill>
                  <a:srgbClr val="242424"/>
                </a:solidFill>
              </a:defRPr>
            </a:pPr>
            <a:r>
              <a:t>     Avoid reopening the decision — document rationale and move forward.</a:t>
            </a:r>
          </a:p>
          <a:p>
            <a:pPr>
              <a:spcAft>
                <a:spcPts val="800"/>
              </a:spcAft>
              <a:defRPr sz="1800" b="0">
                <a:solidFill>
                  <a:srgbClr val="242424"/>
                </a:solidFill>
              </a:defRPr>
            </a:pPr>
          </a:p>
          <a:p>
            <a:pPr>
              <a:spcAft>
                <a:spcPts val="800"/>
              </a:spcAft>
              <a:defRPr sz="1800" b="0">
                <a:solidFill>
                  <a:srgbClr val="242424"/>
                </a:solidFill>
              </a:defRPr>
            </a:pPr>
            <a:r>
              <a:t>3.  Prioritize adoption over margin optimization</a:t>
            </a:r>
          </a:p>
          <a:p>
            <a:pPr>
              <a:spcAft>
                <a:spcPts val="800"/>
              </a:spcAft>
              <a:defRPr sz="1800" b="1">
                <a:solidFill>
                  <a:srgbClr val="242424"/>
                </a:solidFill>
              </a:defRPr>
            </a:pPr>
            <a:r>
              <a:t>     This is a new product category. Revenue and customer value must be</a:t>
            </a:r>
          </a:p>
          <a:p>
            <a:pPr>
              <a:spcAft>
                <a:spcPts val="800"/>
              </a:spcAft>
              <a:defRPr sz="1800" b="0">
                <a:solidFill>
                  <a:srgbClr val="242424"/>
                </a:solidFill>
              </a:defRPr>
            </a:pPr>
            <a:r>
              <a:t>     established before aggressively optimizing profitability.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2B5C"/>
                </a:solidFill>
              </a:defRPr>
            </a:pPr>
            <a:r>
              <a:t>Context: Why Monetization Strategy Matters Now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064240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3474720" cy="4114800"/>
          </a:xfrm>
          <a:prstGeom prst="roundRect">
            <a:avLst/>
          </a:prstGeom>
          <a:solidFill>
            <a:srgbClr val="F3F2F1"/>
          </a:solidFill>
          <a:ln w="12700">
            <a:solidFill>
              <a:srgbClr val="D2D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8D4"/>
                </a:solidFill>
              </a:defRPr>
            </a:pPr>
            <a:r>
              <a:t>New Product Category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42424"/>
                </a:solidFill>
              </a:defRPr>
            </a:pPr>
            <a:r>
              <a:t>IRM is establishing a new category</a:t>
            </a:r>
            <a:br/>
            <a:r>
              <a:t>in Azure — resiliency management</a:t>
            </a:r>
            <a:br/>
            <a:r>
              <a:t>as a platform service. Customers</a:t>
            </a:r>
            <a:br/>
            <a:r>
              <a:t>are still learning the value prop.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645920"/>
            <a:ext cx="3474720" cy="4114800"/>
          </a:xfrm>
          <a:prstGeom prst="roundRect">
            <a:avLst/>
          </a:prstGeom>
          <a:solidFill>
            <a:srgbClr val="F3F2F1"/>
          </a:solidFill>
          <a:ln w="12700">
            <a:solidFill>
              <a:srgbClr val="D2D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1999" y="18288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8D4"/>
                </a:solidFill>
              </a:defRPr>
            </a:pPr>
            <a:r>
              <a:t>New Agent Paradigm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1999" y="246888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42424"/>
                </a:solidFill>
              </a:defRPr>
            </a:pPr>
            <a:r>
              <a:t>The Resiliency Agent introduces</a:t>
            </a:r>
            <a:br/>
            <a:r>
              <a:t>an AI-native interaction model.</a:t>
            </a:r>
            <a:br/>
            <a:r>
              <a:t>Adoption patterns are unproven.</a:t>
            </a:r>
            <a:br/>
            <a:r>
              <a:t>Value curve is still being defined.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1645920"/>
            <a:ext cx="3474720" cy="4114800"/>
          </a:xfrm>
          <a:prstGeom prst="roundRect">
            <a:avLst/>
          </a:prstGeom>
          <a:solidFill>
            <a:srgbClr val="F3F2F1"/>
          </a:solidFill>
          <a:ln w="12700">
            <a:solidFill>
              <a:srgbClr val="D2D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39" y="18288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8D4"/>
                </a:solidFill>
              </a:defRPr>
            </a:pPr>
            <a:r>
              <a:t>Finance &amp; LT Alignment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39" y="246888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42424"/>
                </a:solidFill>
              </a:defRPr>
            </a:pPr>
            <a:r>
              <a:t>Upcoming discussions with Finance</a:t>
            </a:r>
            <a:br/>
            <a:r>
              <a:t>require a clear, defensible rationale</a:t>
            </a:r>
            <a:br/>
            <a:r>
              <a:t>for free-tier justification, pricing,</a:t>
            </a:r>
            <a:br/>
            <a:r>
              <a:t>and margin expectations.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8D4"/>
                </a:solidFill>
              </a:defRPr>
            </a:pPr>
            <a:r>
              <a:t>Principle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2B5C"/>
                </a:solidFill>
              </a:defRPr>
            </a:pPr>
            <a:r>
              <a:t>Adoption Before Margin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1064240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42424"/>
                </a:solidFill>
              </a:defRPr>
            </a:pPr>
            <a:r>
              <a:t>Do not optimize for margin first.</a:t>
            </a:r>
          </a:p>
          <a:p>
            <a:pPr>
              <a:spcAft>
                <a:spcPts val="800"/>
              </a:spcAft>
              <a:defRPr sz="1700" b="0">
                <a:solidFill>
                  <a:srgbClr val="242424"/>
                </a:solidFill>
              </a:defRPr>
            </a:pPr>
          </a:p>
          <a:p>
            <a:pPr>
              <a:spcAft>
                <a:spcPts val="800"/>
              </a:spcAft>
              <a:defRPr sz="1700" b="1">
                <a:solidFill>
                  <a:srgbClr val="242424"/>
                </a:solidFill>
              </a:defRPr>
            </a:pPr>
            <a:r>
              <a:t>Rationale:</a:t>
            </a:r>
          </a:p>
          <a:p>
            <a:pPr>
              <a:spcAft>
                <a:spcPts val="800"/>
              </a:spcAft>
              <a:defRPr sz="1700" b="0">
                <a:solidFill>
                  <a:srgbClr val="242424"/>
                </a:solidFill>
              </a:defRPr>
            </a:pPr>
            <a:r>
              <a:t>•  This is a new product category — customer awareness is still developing</a:t>
            </a:r>
          </a:p>
          <a:p>
            <a:pPr>
              <a:spcAft>
                <a:spcPts val="800"/>
              </a:spcAft>
              <a:defRPr sz="1700" b="0">
                <a:solidFill>
                  <a:srgbClr val="242424"/>
                </a:solidFill>
              </a:defRPr>
            </a:pPr>
            <a:r>
              <a:t>•  Adoption is more important than maximizing gross margin at this stage</a:t>
            </a:r>
          </a:p>
          <a:p>
            <a:pPr>
              <a:spcAft>
                <a:spcPts val="800"/>
              </a:spcAft>
              <a:defRPr sz="1700" b="0">
                <a:solidFill>
                  <a:srgbClr val="242424"/>
                </a:solidFill>
              </a:defRPr>
            </a:pPr>
            <a:r>
              <a:t>•  Revenue, adoption, and customer value must be established before</a:t>
            </a:r>
          </a:p>
          <a:p>
            <a:pPr>
              <a:spcAft>
                <a:spcPts val="800"/>
              </a:spcAft>
              <a:defRPr sz="1700" b="0">
                <a:solidFill>
                  <a:srgbClr val="242424"/>
                </a:solidFill>
              </a:defRPr>
            </a:pPr>
            <a:r>
              <a:t>    aggressively optimizing profitability</a:t>
            </a:r>
          </a:p>
          <a:p>
            <a:pPr>
              <a:spcAft>
                <a:spcPts val="800"/>
              </a:spcAft>
              <a:defRPr sz="1700" b="0">
                <a:solidFill>
                  <a:srgbClr val="242424"/>
                </a:solidFill>
              </a:defRPr>
            </a:pPr>
          </a:p>
          <a:p>
            <a:pPr>
              <a:spcAft>
                <a:spcPts val="800"/>
              </a:spcAft>
              <a:defRPr sz="1700" b="1">
                <a:solidFill>
                  <a:srgbClr val="242424"/>
                </a:solidFill>
              </a:defRPr>
            </a:pPr>
            <a:r>
              <a:t>Messaging to Finance &amp; LT:</a:t>
            </a:r>
          </a:p>
          <a:p>
            <a:pPr>
              <a:spcAft>
                <a:spcPts val="800"/>
              </a:spcAft>
              <a:defRPr sz="1700" b="0">
                <a:solidFill>
                  <a:srgbClr val="242424"/>
                </a:solidFill>
              </a:defRPr>
            </a:pPr>
            <a:r>
              <a:t>•  IRM is a value-added service — not a mature infrastructure commodity</a:t>
            </a:r>
          </a:p>
          <a:p>
            <a:pPr>
              <a:spcAft>
                <a:spcPts val="800"/>
              </a:spcAft>
              <a:defRPr sz="1700" b="0">
                <a:solidFill>
                  <a:srgbClr val="242424"/>
                </a:solidFill>
              </a:defRPr>
            </a:pPr>
            <a:r>
              <a:t>•  Should not be evaluated using the same margin expectations as</a:t>
            </a:r>
          </a:p>
          <a:p>
            <a:pPr>
              <a:spcAft>
                <a:spcPts val="800"/>
              </a:spcAft>
              <a:defRPr sz="1700" b="0">
                <a:solidFill>
                  <a:srgbClr val="242424"/>
                </a:solidFill>
              </a:defRPr>
            </a:pPr>
            <a:r>
              <a:t>    established Azure services (e.g., Compute, Storage)</a:t>
            </a:r>
          </a:p>
          <a:p>
            <a:pPr>
              <a:spcAft>
                <a:spcPts val="800"/>
              </a:spcAft>
              <a:defRPr sz="1700" b="0">
                <a:solidFill>
                  <a:srgbClr val="242424"/>
                </a:solidFill>
              </a:defRPr>
            </a:pPr>
            <a:r>
              <a:t>•  Early-stage adoption is the primary objective</a:t>
            </a:r>
          </a:p>
          <a:p>
            <a:pPr>
              <a:spcAft>
                <a:spcPts val="800"/>
              </a:spcAft>
              <a:defRPr sz="1700" b="0">
                <a:solidFill>
                  <a:srgbClr val="242424"/>
                </a:solidFill>
              </a:defRPr>
            </a:pPr>
          </a:p>
          <a:p>
            <a:pPr>
              <a:spcAft>
                <a:spcPts val="800"/>
              </a:spcAft>
              <a:defRPr sz="1700" b="1">
                <a:solidFill>
                  <a:srgbClr val="242424"/>
                </a:solidFill>
              </a:defRPr>
            </a:pPr>
            <a:r>
              <a:t>Reaching 70% margin requires ~30,000 service groups with high conversion</a:t>
            </a:r>
          </a:p>
          <a:p>
            <a:pPr>
              <a:spcAft>
                <a:spcPts val="800"/>
              </a:spcAft>
              <a:defRPr sz="1700" b="0">
                <a:solidFill>
                  <a:srgbClr val="242424"/>
                </a:solidFill>
              </a:defRPr>
            </a:pPr>
            <a:r>
              <a:t>— current service group counts are significantly lower. Margin targets</a:t>
            </a:r>
          </a:p>
          <a:p>
            <a:pPr>
              <a:spcAft>
                <a:spcPts val="800"/>
              </a:spcAft>
              <a:defRPr sz="1700" b="0">
                <a:solidFill>
                  <a:srgbClr val="242424"/>
                </a:solidFill>
              </a:defRPr>
            </a:pPr>
            <a:r>
              <a:t>should be revisited as adoption scales.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8D4"/>
                </a:solidFill>
              </a:defRPr>
            </a:pPr>
            <a:r>
              <a:t>Principle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2B5C"/>
                </a:solidFill>
              </a:defRPr>
            </a:pPr>
            <a:r>
              <a:t>Stick with Option B — Stop Reopening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1064240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42424"/>
                </a:solidFill>
              </a:defRPr>
            </a:pPr>
            <a:r>
              <a:t>Several options were evaluated. Option B was selected because:</a:t>
            </a:r>
          </a:p>
          <a:p>
            <a:pPr>
              <a:spcAft>
                <a:spcPts val="800"/>
              </a:spcAft>
              <a:defRPr sz="1700" b="0">
                <a:solidFill>
                  <a:srgbClr val="242424"/>
                </a:solidFill>
              </a:defRPr>
            </a:pPr>
          </a:p>
          <a:p>
            <a:pPr>
              <a:spcAft>
                <a:spcPts val="800"/>
              </a:spcAft>
              <a:defRPr sz="1700" b="0">
                <a:solidFill>
                  <a:srgbClr val="242424"/>
                </a:solidFill>
              </a:defRPr>
            </a:pPr>
            <a:r>
              <a:t>•  The product is new — pricing simplicity reduces friction</a:t>
            </a:r>
          </a:p>
          <a:p>
            <a:pPr>
              <a:spcAft>
                <a:spcPts val="800"/>
              </a:spcAft>
              <a:defRPr sz="1700" b="0">
                <a:solidFill>
                  <a:srgbClr val="242424"/>
                </a:solidFill>
              </a:defRPr>
            </a:pPr>
            <a:r>
              <a:t>•  The agent is new — usage patterns are not yet established</a:t>
            </a:r>
          </a:p>
          <a:p>
            <a:pPr>
              <a:spcAft>
                <a:spcPts val="800"/>
              </a:spcAft>
              <a:defRPr sz="1700" b="0">
                <a:solidFill>
                  <a:srgbClr val="242424"/>
                </a:solidFill>
              </a:defRPr>
            </a:pPr>
            <a:r>
              <a:t>•  Customers need exposure to capabilities before paying</a:t>
            </a:r>
          </a:p>
          <a:p>
            <a:pPr>
              <a:spcAft>
                <a:spcPts val="800"/>
              </a:spcAft>
              <a:defRPr sz="1700" b="0">
                <a:solidFill>
                  <a:srgbClr val="242424"/>
                </a:solidFill>
              </a:defRPr>
            </a:pPr>
            <a:r>
              <a:t>•  Adoption is the priority at this stage</a:t>
            </a:r>
          </a:p>
          <a:p>
            <a:pPr>
              <a:spcAft>
                <a:spcPts val="800"/>
              </a:spcAft>
              <a:defRPr sz="1700" b="0">
                <a:solidFill>
                  <a:srgbClr val="242424"/>
                </a:solidFill>
              </a:defRPr>
            </a:pPr>
          </a:p>
          <a:p>
            <a:pPr>
              <a:spcAft>
                <a:spcPts val="800"/>
              </a:spcAft>
              <a:defRPr sz="1700" b="1">
                <a:solidFill>
                  <a:srgbClr val="242424"/>
                </a:solidFill>
              </a:defRPr>
            </a:pPr>
            <a:r>
              <a:t>Recommended action:</a:t>
            </a:r>
          </a:p>
          <a:p>
            <a:pPr>
              <a:spcAft>
                <a:spcPts val="800"/>
              </a:spcAft>
              <a:defRPr sz="1700" b="0">
                <a:solidFill>
                  <a:srgbClr val="242424"/>
                </a:solidFill>
              </a:defRPr>
            </a:pPr>
            <a:r>
              <a:t>•  Create a concise artifact documenting:</a:t>
            </a:r>
          </a:p>
          <a:p>
            <a:pPr>
              <a:spcAft>
                <a:spcPts val="800"/>
              </a:spcAft>
              <a:defRPr sz="1700" b="0">
                <a:solidFill>
                  <a:srgbClr val="242424"/>
                </a:solidFill>
              </a:defRPr>
            </a:pPr>
            <a:r>
              <a:t>    – Options considered</a:t>
            </a:r>
          </a:p>
          <a:p>
            <a:pPr>
              <a:spcAft>
                <a:spcPts val="800"/>
              </a:spcAft>
              <a:defRPr sz="1700" b="0">
                <a:solidFill>
                  <a:srgbClr val="242424"/>
                </a:solidFill>
              </a:defRPr>
            </a:pPr>
            <a:r>
              <a:t>    – Pros and cons of each</a:t>
            </a:r>
          </a:p>
          <a:p>
            <a:pPr>
              <a:spcAft>
                <a:spcPts val="800"/>
              </a:spcAft>
              <a:defRPr sz="1700" b="0">
                <a:solidFill>
                  <a:srgbClr val="242424"/>
                </a:solidFill>
              </a:defRPr>
            </a:pPr>
            <a:r>
              <a:t>    – Why Option B was chosen</a:t>
            </a:r>
          </a:p>
          <a:p>
            <a:pPr>
              <a:spcAft>
                <a:spcPts val="800"/>
              </a:spcAft>
              <a:defRPr sz="1700" b="0">
                <a:solidFill>
                  <a:srgbClr val="242424"/>
                </a:solidFill>
              </a:defRPr>
            </a:pPr>
            <a:r>
              <a:t>•  Use this as the reference document for all future discussions</a:t>
            </a:r>
          </a:p>
          <a:p>
            <a:pPr>
              <a:spcAft>
                <a:spcPts val="800"/>
              </a:spcAft>
              <a:defRPr sz="1700" b="0">
                <a:solidFill>
                  <a:srgbClr val="242424"/>
                </a:solidFill>
              </a:defRPr>
            </a:pPr>
            <a:r>
              <a:t>•  Do not reopen the decision — iterate on execution instead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8D4"/>
                </a:solidFill>
              </a:defRPr>
            </a:pPr>
            <a:r>
              <a:t>Principle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2B5C"/>
                </a:solidFill>
              </a:defRPr>
            </a:pPr>
            <a:r>
              <a:t>Customers Need a "Hook"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1064240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474720" cy="2743200"/>
          </a:xfrm>
          <a:prstGeom prst="roundRect">
            <a:avLst/>
          </a:prstGeom>
          <a:solidFill>
            <a:srgbClr val="F3F2F1"/>
          </a:solidFill>
          <a:ln w="12700">
            <a:solidFill>
              <a:srgbClr val="D2D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3474720" cy="109728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2B5C"/>
                </a:solidFill>
              </a:defRPr>
            </a:pPr>
            <a:r>
              <a:t>1. Show Value</a:t>
            </a:r>
            <a:br/>
            <a:r>
              <a:t>Upfront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004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42424"/>
                </a:solidFill>
              </a:defRPr>
            </a:pPr>
            <a:r>
              <a:t>Free posture assessment,</a:t>
            </a:r>
            <a:br/>
            <a:r>
              <a:t>at-scale visibility,</a:t>
            </a:r>
            <a:br/>
            <a:r>
              <a:t>recommendations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828800"/>
            <a:ext cx="3474720" cy="2743200"/>
          </a:xfrm>
          <a:prstGeom prst="roundRect">
            <a:avLst/>
          </a:prstGeom>
          <a:solidFill>
            <a:srgbClr val="F3F2F1"/>
          </a:solidFill>
          <a:ln w="12700">
            <a:solidFill>
              <a:srgbClr val="D2D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79" y="1828800"/>
            <a:ext cx="3474720" cy="109728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1999" y="21031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2B5C"/>
                </a:solidFill>
              </a:defRPr>
            </a:pPr>
            <a:r>
              <a:t>2. Create</a:t>
            </a:r>
            <a:br/>
            <a:r>
              <a:t>Engagement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1999" y="32004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42424"/>
                </a:solidFill>
              </a:defRPr>
            </a:pPr>
            <a:r>
              <a:t>Limited free usage of</a:t>
            </a:r>
            <a:br/>
            <a:r>
              <a:t>premium features —</a:t>
            </a:r>
            <a:br/>
            <a:r>
              <a:t>curiosity &amp; exploration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1828800"/>
            <a:ext cx="3474720" cy="2743200"/>
          </a:xfrm>
          <a:prstGeom prst="roundRect">
            <a:avLst/>
          </a:prstGeom>
          <a:solidFill>
            <a:srgbClr val="F3F2F1"/>
          </a:solidFill>
          <a:ln w="12700">
            <a:solidFill>
              <a:srgbClr val="D2D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19" y="1828800"/>
            <a:ext cx="3474720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39" y="21031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2B5C"/>
                </a:solidFill>
              </a:defRPr>
            </a:pPr>
            <a:r>
              <a:t>3. Convert to</a:t>
            </a:r>
            <a:br/>
            <a:r>
              <a:t>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39" y="32004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42424"/>
                </a:solidFill>
              </a:defRPr>
            </a:pPr>
            <a:r>
              <a:t>Drills, recovery plans,</a:t>
            </a:r>
            <a:br/>
            <a:r>
              <a:t>advanced capabilities</a:t>
            </a:r>
            <a:br/>
            <a:r>
              <a:t>require paid tier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27432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E6E6E"/>
                </a:solidFill>
              </a:defRPr>
            </a:pPr>
            <a: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27432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E6E6E"/>
                </a:solidFill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9377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E6E6E"/>
                </a:solidFill>
              </a:defRPr>
            </a:pPr>
            <a:r>
              <a:t>Analogies discussed: LinkedIn Premium, freemium SaaS, sports channel packages</a:t>
            </a:r>
          </a:p>
          <a:p>
            <a:pPr>
              <a:spcAft>
                <a:spcPts val="800"/>
              </a:spcAft>
              <a:defRPr sz="1600" b="0">
                <a:solidFill>
                  <a:srgbClr val="6E6E6E"/>
                </a:solidFill>
              </a:defRPr>
            </a:pPr>
            <a:r>
              <a:t>Key: Show meaningful value before asking customers to pay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2B5C"/>
                </a:solidFill>
              </a:defRPr>
            </a:pPr>
            <a:r>
              <a:t>Business Model: Separate IRM &amp; Agent Monetization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064240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303520" cy="4754880"/>
          </a:xfrm>
          <a:prstGeom prst="roundRect">
            <a:avLst/>
          </a:prstGeom>
          <a:solidFill>
            <a:srgbClr val="F3F2F1"/>
          </a:solidFill>
          <a:ln w="12700">
            <a:solidFill>
              <a:srgbClr val="D2D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5303520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78D4"/>
                </a:solidFill>
              </a:defRPr>
            </a:pPr>
            <a:r>
              <a:t>IRM (Platform Capabilities)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42424"/>
                </a:solidFill>
              </a:defRPr>
            </a:pPr>
            <a:r>
              <a:t>Free tier:</a:t>
            </a:r>
          </a:p>
          <a:p>
            <a:pPr>
              <a:spcAft>
                <a:spcPts val="800"/>
              </a:spcAft>
              <a:defRPr sz="1500" b="0">
                <a:solidFill>
                  <a:srgbClr val="242424"/>
                </a:solidFill>
              </a:defRPr>
            </a:pPr>
            <a:r>
              <a:t>  •  Posture assessment &amp; recommendations</a:t>
            </a:r>
          </a:p>
          <a:p>
            <a:pPr>
              <a:spcAft>
                <a:spcPts val="800"/>
              </a:spcAft>
              <a:defRPr sz="1500" b="0">
                <a:solidFill>
                  <a:srgbClr val="242424"/>
                </a:solidFill>
              </a:defRPr>
            </a:pPr>
            <a:r>
              <a:t>  •  At-scale visibility across service groups</a:t>
            </a:r>
          </a:p>
          <a:p>
            <a:pPr>
              <a:spcAft>
                <a:spcPts val="800"/>
              </a:spcAft>
              <a:defRPr sz="1500" b="0">
                <a:solidFill>
                  <a:srgbClr val="242424"/>
                </a:solidFill>
              </a:defRPr>
            </a:pPr>
            <a:r>
              <a:t>  •  Zone resiliency status dashboard</a:t>
            </a:r>
          </a:p>
          <a:p>
            <a:pPr>
              <a:spcAft>
                <a:spcPts val="800"/>
              </a:spcAft>
              <a:defRPr sz="1500" b="0">
                <a:solidFill>
                  <a:srgbClr val="242424"/>
                </a:solidFill>
              </a:defRPr>
            </a:pPr>
          </a:p>
          <a:p>
            <a:pPr>
              <a:spcAft>
                <a:spcPts val="800"/>
              </a:spcAft>
              <a:defRPr sz="1500" b="0">
                <a:solidFill>
                  <a:srgbClr val="242424"/>
                </a:solidFill>
              </a:defRPr>
            </a:pPr>
            <a:r>
              <a:t>Paid capabilities:</a:t>
            </a:r>
          </a:p>
          <a:p>
            <a:pPr>
              <a:spcAft>
                <a:spcPts val="800"/>
              </a:spcAft>
              <a:defRPr sz="1500" b="0">
                <a:solidFill>
                  <a:srgbClr val="242424"/>
                </a:solidFill>
              </a:defRPr>
            </a:pPr>
            <a:r>
              <a:t>  •  Zone-down drills (fault injection)</a:t>
            </a:r>
          </a:p>
          <a:p>
            <a:pPr>
              <a:spcAft>
                <a:spcPts val="800"/>
              </a:spcAft>
              <a:defRPr sz="1500" b="0">
                <a:solidFill>
                  <a:srgbClr val="242424"/>
                </a:solidFill>
              </a:defRPr>
            </a:pPr>
            <a:r>
              <a:t>  •  Recovery orchestration (plans + execution)</a:t>
            </a:r>
          </a:p>
          <a:p>
            <a:pPr>
              <a:spcAft>
                <a:spcPts val="800"/>
              </a:spcAft>
              <a:defRPr sz="1500" b="0">
                <a:solidFill>
                  <a:srgbClr val="242424"/>
                </a:solidFill>
              </a:defRPr>
            </a:pPr>
          </a:p>
          <a:p>
            <a:pPr>
              <a:spcAft>
                <a:spcPts val="800"/>
              </a:spcAft>
              <a:defRPr sz="1500" b="0">
                <a:solidFill>
                  <a:srgbClr val="242424"/>
                </a:solidFill>
              </a:defRPr>
            </a:pPr>
            <a:r>
              <a:t>Premium add-ons:</a:t>
            </a:r>
          </a:p>
          <a:p>
            <a:pPr>
              <a:spcAft>
                <a:spcPts val="800"/>
              </a:spcAft>
              <a:defRPr sz="1500" b="0">
                <a:solidFill>
                  <a:srgbClr val="242424"/>
                </a:solidFill>
              </a:defRPr>
            </a:pPr>
            <a:r>
              <a:t>  •  Regional resiliency plans</a:t>
            </a:r>
          </a:p>
          <a:p>
            <a:pPr>
              <a:spcAft>
                <a:spcPts val="800"/>
              </a:spcAft>
              <a:defRPr sz="1500" b="0">
                <a:solidFill>
                  <a:srgbClr val="242424"/>
                </a:solidFill>
              </a:defRPr>
            </a:pPr>
            <a:r>
              <a:t>  •  Dependency discovery</a:t>
            </a:r>
          </a:p>
          <a:p>
            <a:pPr>
              <a:spcAft>
                <a:spcPts val="800"/>
              </a:spcAft>
              <a:defRPr sz="1500" b="0">
                <a:solidFill>
                  <a:srgbClr val="242424"/>
                </a:solidFill>
              </a:defRPr>
            </a:pPr>
            <a:r>
              <a:t>  •  Advanced topology capabilities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463040"/>
            <a:ext cx="5303520" cy="4754880"/>
          </a:xfrm>
          <a:prstGeom prst="roundRect">
            <a:avLst/>
          </a:prstGeom>
          <a:solidFill>
            <a:srgbClr val="F3F2F1"/>
          </a:solidFill>
          <a:ln w="12700">
            <a:solidFill>
              <a:srgbClr val="D2D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463040"/>
            <a:ext cx="5303520" cy="109728"/>
          </a:xfrm>
          <a:prstGeom prst="rect">
            <a:avLst/>
          </a:prstGeom>
          <a:solidFill>
            <a:srgbClr val="00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737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B7C3"/>
                </a:solidFill>
              </a:defRPr>
            </a:pPr>
            <a:r>
              <a:t>Agent (AI-Native Experience)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28600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42424"/>
                </a:solidFill>
              </a:defRPr>
            </a:pPr>
            <a:r>
              <a:t>Pricing model:</a:t>
            </a:r>
          </a:p>
          <a:p>
            <a:pPr>
              <a:spcAft>
                <a:spcPts val="800"/>
              </a:spcAft>
              <a:defRPr sz="1500" b="0">
                <a:solidFill>
                  <a:srgbClr val="242424"/>
                </a:solidFill>
              </a:defRPr>
            </a:pPr>
            <a:r>
              <a:t>  •  Usage-based — tied to agent interactions</a:t>
            </a:r>
          </a:p>
          <a:p>
            <a:pPr>
              <a:spcAft>
                <a:spcPts val="800"/>
              </a:spcAft>
              <a:defRPr sz="1500" b="0">
                <a:solidFill>
                  <a:srgbClr val="242424"/>
                </a:solidFill>
              </a:defRPr>
            </a:pPr>
            <a:r>
              <a:t>  •  Linked to JTBD execution outcomes</a:t>
            </a:r>
          </a:p>
          <a:p>
            <a:pPr>
              <a:spcAft>
                <a:spcPts val="800"/>
              </a:spcAft>
              <a:defRPr sz="1500" b="0">
                <a:solidFill>
                  <a:srgbClr val="242424"/>
                </a:solidFill>
              </a:defRPr>
            </a:pPr>
          </a:p>
          <a:p>
            <a:pPr>
              <a:spcAft>
                <a:spcPts val="800"/>
              </a:spcAft>
              <a:defRPr sz="1500" b="0">
                <a:solidFill>
                  <a:srgbClr val="242424"/>
                </a:solidFill>
              </a:defRPr>
            </a:pPr>
            <a:r>
              <a:t>Why separate:</a:t>
            </a:r>
          </a:p>
          <a:p>
            <a:pPr>
              <a:spcAft>
                <a:spcPts val="800"/>
              </a:spcAft>
              <a:defRPr sz="1500" b="0">
                <a:solidFill>
                  <a:srgbClr val="242424"/>
                </a:solidFill>
              </a:defRPr>
            </a:pPr>
            <a:r>
              <a:t>  •  Agent adoption patterns are unproven</a:t>
            </a:r>
          </a:p>
          <a:p>
            <a:pPr>
              <a:spcAft>
                <a:spcPts val="800"/>
              </a:spcAft>
              <a:defRPr sz="1500" b="0">
                <a:solidFill>
                  <a:srgbClr val="242424"/>
                </a:solidFill>
              </a:defRPr>
            </a:pPr>
            <a:r>
              <a:t>  •  Value curve is still being defined</a:t>
            </a:r>
          </a:p>
          <a:p>
            <a:pPr>
              <a:spcAft>
                <a:spcPts val="800"/>
              </a:spcAft>
              <a:defRPr sz="1500" b="0">
                <a:solidFill>
                  <a:srgbClr val="242424"/>
                </a:solidFill>
              </a:defRPr>
            </a:pPr>
            <a:r>
              <a:t>  •  Coupling would block IRM GA pricing</a:t>
            </a:r>
          </a:p>
          <a:p>
            <a:pPr>
              <a:spcAft>
                <a:spcPts val="800"/>
              </a:spcAft>
              <a:defRPr sz="1500" b="0">
                <a:solidFill>
                  <a:srgbClr val="242424"/>
                </a:solidFill>
              </a:defRPr>
            </a:pPr>
            <a:r>
              <a:t>  •  Flexibility to iterate independently</a:t>
            </a:r>
          </a:p>
          <a:p>
            <a:pPr>
              <a:spcAft>
                <a:spcPts val="800"/>
              </a:spcAft>
              <a:defRPr sz="1500" b="0">
                <a:solidFill>
                  <a:srgbClr val="242424"/>
                </a:solidFill>
              </a:defRPr>
            </a:pPr>
          </a:p>
          <a:p>
            <a:pPr>
              <a:spcAft>
                <a:spcPts val="800"/>
              </a:spcAft>
              <a:defRPr sz="1500" b="0">
                <a:solidFill>
                  <a:srgbClr val="242424"/>
                </a:solidFill>
              </a:defRPr>
            </a:pPr>
            <a:r>
              <a:t>Open question:</a:t>
            </a:r>
          </a:p>
          <a:p>
            <a:pPr>
              <a:spcAft>
                <a:spcPts val="800"/>
              </a:spcAft>
              <a:defRPr sz="1500" b="0">
                <a:solidFill>
                  <a:srgbClr val="242424"/>
                </a:solidFill>
              </a:defRPr>
            </a:pPr>
            <a:r>
              <a:t>  What capabilities must exist before</a:t>
            </a:r>
          </a:p>
          <a:p>
            <a:pPr>
              <a:spcAft>
                <a:spcPts val="800"/>
              </a:spcAft>
              <a:defRPr sz="1500" b="0">
                <a:solidFill>
                  <a:srgbClr val="242424"/>
                </a:solidFill>
              </a:defRPr>
            </a:pPr>
            <a:r>
              <a:t>  customers prefer the agent over the portal?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2B5C"/>
                </a:solidFill>
              </a:defRPr>
            </a:pPr>
            <a:r>
              <a:t>Pricing Philosophy: Capability-First, Bundles Later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064240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303520" cy="4754880"/>
          </a:xfrm>
          <a:prstGeom prst="roundRect">
            <a:avLst/>
          </a:prstGeom>
          <a:solidFill>
            <a:srgbClr val="F3F2F1"/>
          </a:solidFill>
          <a:ln w="12700">
            <a:solidFill>
              <a:srgbClr val="D2D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8D4"/>
                </a:solidFill>
              </a:defRPr>
            </a:pPr>
            <a:r>
              <a:t>Near Term: Capability-Level Pricing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42424"/>
                </a:solidFill>
              </a:defRPr>
            </a:pPr>
            <a:r>
              <a:t>Why individual capabilities first:</a:t>
            </a:r>
          </a:p>
          <a:p>
            <a:pPr>
              <a:spcAft>
                <a:spcPts val="800"/>
              </a:spcAft>
              <a:defRPr sz="1600" b="0">
                <a:solidFill>
                  <a:srgbClr val="242424"/>
                </a:solidFill>
              </a:defRPr>
            </a:pPr>
          </a:p>
          <a:p>
            <a:pPr>
              <a:spcAft>
                <a:spcPts val="800"/>
              </a:spcAft>
              <a:defRPr sz="1600" b="0">
                <a:solidFill>
                  <a:srgbClr val="242424"/>
                </a:solidFill>
              </a:defRPr>
            </a:pPr>
            <a:r>
              <a:t>•  Product capabilities are still emerging</a:t>
            </a:r>
          </a:p>
          <a:p>
            <a:pPr>
              <a:spcAft>
                <a:spcPts val="800"/>
              </a:spcAft>
              <a:defRPr sz="1600" b="0">
                <a:solidFill>
                  <a:srgbClr val="242424"/>
                </a:solidFill>
              </a:defRPr>
            </a:pPr>
            <a:r>
              <a:t>•  Customers don't yet understand the full portfolio</a:t>
            </a:r>
          </a:p>
          <a:p>
            <a:pPr>
              <a:spcAft>
                <a:spcPts val="800"/>
              </a:spcAft>
              <a:defRPr sz="1600" b="0">
                <a:solidFill>
                  <a:srgbClr val="242424"/>
                </a:solidFill>
              </a:defRPr>
            </a:pPr>
            <a:r>
              <a:t>•  Individual pricing allows better adoption measurement</a:t>
            </a:r>
          </a:p>
          <a:p>
            <a:pPr>
              <a:spcAft>
                <a:spcPts val="800"/>
              </a:spcAft>
              <a:defRPr sz="1600" b="0">
                <a:solidFill>
                  <a:srgbClr val="242424"/>
                </a:solidFill>
              </a:defRPr>
            </a:pPr>
            <a:r>
              <a:t>•  Enables clearer investment decisions per capability</a:t>
            </a:r>
          </a:p>
          <a:p>
            <a:pPr>
              <a:spcAft>
                <a:spcPts val="800"/>
              </a:spcAft>
              <a:defRPr sz="1600" b="0">
                <a:solidFill>
                  <a:srgbClr val="242424"/>
                </a:solidFill>
              </a:defRPr>
            </a:pPr>
          </a:p>
          <a:p>
            <a:pPr>
              <a:spcAft>
                <a:spcPts val="800"/>
              </a:spcAft>
              <a:defRPr sz="1600" b="0">
                <a:solidFill>
                  <a:srgbClr val="242424"/>
                </a:solidFill>
              </a:defRPr>
            </a:pPr>
            <a:r>
              <a:t>Examples of priced capabilities:</a:t>
            </a:r>
          </a:p>
          <a:p>
            <a:pPr>
              <a:spcAft>
                <a:spcPts val="800"/>
              </a:spcAft>
              <a:defRPr sz="1600" b="0">
                <a:solidFill>
                  <a:srgbClr val="242424"/>
                </a:solidFill>
              </a:defRPr>
            </a:pPr>
            <a:r>
              <a:t>  – Zone-down drills</a:t>
            </a:r>
          </a:p>
          <a:p>
            <a:pPr>
              <a:spcAft>
                <a:spcPts val="800"/>
              </a:spcAft>
              <a:defRPr sz="1600" b="0">
                <a:solidFill>
                  <a:srgbClr val="242424"/>
                </a:solidFill>
              </a:defRPr>
            </a:pPr>
            <a:r>
              <a:t>  – Recovery orchestration</a:t>
            </a:r>
          </a:p>
          <a:p>
            <a:pPr>
              <a:spcAft>
                <a:spcPts val="800"/>
              </a:spcAft>
              <a:defRPr sz="1600" b="0">
                <a:solidFill>
                  <a:srgbClr val="242424"/>
                </a:solidFill>
              </a:defRPr>
            </a:pPr>
            <a:r>
              <a:t>  – Regional resiliency planning</a:t>
            </a:r>
          </a:p>
          <a:p>
            <a:pPr>
              <a:spcAft>
                <a:spcPts val="800"/>
              </a:spcAft>
              <a:defRPr sz="1600" b="0">
                <a:solidFill>
                  <a:srgbClr val="242424"/>
                </a:solidFill>
              </a:defRPr>
            </a:pPr>
            <a:r>
              <a:t>  – Dependency discovery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63040"/>
            <a:ext cx="5303520" cy="4754880"/>
          </a:xfrm>
          <a:prstGeom prst="roundRect">
            <a:avLst/>
          </a:prstGeom>
          <a:solidFill>
            <a:srgbClr val="F3F2F1"/>
          </a:solidFill>
          <a:ln w="12700">
            <a:solidFill>
              <a:srgbClr val="D2D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6459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8D4"/>
                </a:solidFill>
              </a:defRPr>
            </a:pPr>
            <a:r>
              <a:t>Long Term: Evolve Toward Bundles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42424"/>
                </a:solidFill>
              </a:defRPr>
            </a:pPr>
            <a:r>
              <a:t>Once adoption &amp; capabilities mature:</a:t>
            </a:r>
          </a:p>
          <a:p>
            <a:pPr>
              <a:spcAft>
                <a:spcPts val="800"/>
              </a:spcAft>
              <a:defRPr sz="1600" b="0">
                <a:solidFill>
                  <a:srgbClr val="242424"/>
                </a:solidFill>
              </a:defRPr>
            </a:pPr>
          </a:p>
          <a:p>
            <a:pPr>
              <a:spcAft>
                <a:spcPts val="800"/>
              </a:spcAft>
              <a:defRPr sz="1600" b="0">
                <a:solidFill>
                  <a:srgbClr val="242424"/>
                </a:solidFill>
              </a:defRPr>
            </a:pPr>
            <a:r>
              <a:t>•  Introduce tiered bundles</a:t>
            </a:r>
          </a:p>
          <a:p>
            <a:pPr>
              <a:spcAft>
                <a:spcPts val="800"/>
              </a:spcAft>
              <a:defRPr sz="1600" b="0">
                <a:solidFill>
                  <a:srgbClr val="242424"/>
                </a:solidFill>
              </a:defRPr>
            </a:pPr>
            <a:r>
              <a:t>•  Create premium packages</a:t>
            </a:r>
          </a:p>
          <a:p>
            <a:pPr>
              <a:spcAft>
                <a:spcPts val="800"/>
              </a:spcAft>
              <a:defRPr sz="1600" b="0">
                <a:solidFill>
                  <a:srgbClr val="242424"/>
                </a:solidFill>
              </a:defRPr>
            </a:pPr>
            <a:r>
              <a:t>•  Offer bundle discounts for commitment</a:t>
            </a:r>
          </a:p>
          <a:p>
            <a:pPr>
              <a:spcAft>
                <a:spcPts val="800"/>
              </a:spcAft>
              <a:defRPr sz="1600" b="0">
                <a:solidFill>
                  <a:srgbClr val="242424"/>
                </a:solidFill>
              </a:defRPr>
            </a:pPr>
          </a:p>
          <a:p>
            <a:pPr>
              <a:spcAft>
                <a:spcPts val="800"/>
              </a:spcAft>
              <a:defRPr sz="1600" b="0">
                <a:solidFill>
                  <a:srgbClr val="242424"/>
                </a:solidFill>
              </a:defRPr>
            </a:pPr>
            <a:r>
              <a:t>Analogies:</a:t>
            </a:r>
          </a:p>
          <a:p>
            <a:pPr>
              <a:spcAft>
                <a:spcPts val="800"/>
              </a:spcAft>
              <a:defRPr sz="1600" b="0">
                <a:solidFill>
                  <a:srgbClr val="242424"/>
                </a:solidFill>
              </a:defRPr>
            </a:pPr>
            <a:r>
              <a:t>  – Base package vs. premium package</a:t>
            </a:r>
          </a:p>
          <a:p>
            <a:pPr>
              <a:spcAft>
                <a:spcPts val="800"/>
              </a:spcAft>
              <a:defRPr sz="1600" b="0">
                <a:solidFill>
                  <a:srgbClr val="242424"/>
                </a:solidFill>
              </a:defRPr>
            </a:pPr>
            <a:r>
              <a:t>  – Sports channel bundling models</a:t>
            </a:r>
          </a:p>
          <a:p>
            <a:pPr>
              <a:spcAft>
                <a:spcPts val="800"/>
              </a:spcAft>
              <a:defRPr sz="1600" b="0">
                <a:solidFill>
                  <a:srgbClr val="242424"/>
                </a:solidFill>
              </a:defRPr>
            </a:pPr>
          </a:p>
          <a:p>
            <a:pPr>
              <a:spcAft>
                <a:spcPts val="800"/>
              </a:spcAft>
              <a:defRPr sz="1600" b="0">
                <a:solidFill>
                  <a:srgbClr val="242424"/>
                </a:solidFill>
              </a:defRPr>
            </a:pPr>
            <a:r>
              <a:t>Key: Don't bundle before you understand</a:t>
            </a:r>
          </a:p>
          <a:p>
            <a:pPr>
              <a:spcAft>
                <a:spcPts val="800"/>
              </a:spcAft>
              <a:defRPr sz="1600" b="0">
                <a:solidFill>
                  <a:srgbClr val="242424"/>
                </a:solidFill>
              </a:defRPr>
            </a:pPr>
            <a:r>
              <a:t>which capabilities drive the most value.</a:t>
            </a:r>
          </a:p>
          <a:p>
            <a:pPr>
              <a:spcAft>
                <a:spcPts val="800"/>
              </a:spcAft>
              <a:defRPr sz="1600" b="0">
                <a:solidFill>
                  <a:srgbClr val="242424"/>
                </a:solidFill>
              </a:defRPr>
            </a:pPr>
            <a:r>
              <a:t>Let individual pricing data inform bundles.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23560" y="329184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78D4"/>
                </a:solidFill>
              </a:defRPr>
            </a:pPr>
            <a:r>
              <a:t>→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2B5C"/>
                </a:solidFill>
              </a:defRPr>
            </a:pPr>
            <a:r>
              <a:t>Free / Freemium Tier: What's Included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064240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3474720" cy="457200"/>
          </a:xfrm>
          <a:prstGeom prst="roundRect">
            <a:avLst/>
          </a:prstGeom>
          <a:solidFill>
            <a:srgbClr val="0078D4"/>
          </a:solidFill>
          <a:ln w="12700">
            <a:solidFill>
              <a:srgbClr val="D2D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8132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Capability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463040"/>
            <a:ext cx="3474720" cy="457200"/>
          </a:xfrm>
          <a:prstGeom prst="roundRect">
            <a:avLst/>
          </a:prstGeom>
          <a:solidFill>
            <a:srgbClr val="0078D4"/>
          </a:solidFill>
          <a:ln w="12700">
            <a:solidFill>
              <a:srgbClr val="D2D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48132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Free Tier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463040"/>
            <a:ext cx="3474720" cy="457200"/>
          </a:xfrm>
          <a:prstGeom prst="roundRect">
            <a:avLst/>
          </a:prstGeom>
          <a:solidFill>
            <a:srgbClr val="0078D4"/>
          </a:solidFill>
          <a:ln w="12700">
            <a:solidFill>
              <a:srgbClr val="D2D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48132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Paid Tier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011680"/>
            <a:ext cx="3474720" cy="457200"/>
          </a:xfrm>
          <a:prstGeom prst="roundRect">
            <a:avLst/>
          </a:prstGeom>
          <a:solidFill>
            <a:srgbClr val="F3F2F1"/>
          </a:solidFill>
          <a:ln w="12700">
            <a:solidFill>
              <a:srgbClr val="D2D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02996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42424"/>
                </a:solidFill>
              </a:defRPr>
            </a:pPr>
            <a:r>
              <a:t>Posture Assessment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2011680"/>
            <a:ext cx="3474720" cy="457200"/>
          </a:xfrm>
          <a:prstGeom prst="roundRect">
            <a:avLst/>
          </a:prstGeom>
          <a:solidFill>
            <a:srgbClr val="F3F2F1"/>
          </a:solidFill>
          <a:ln w="12700">
            <a:solidFill>
              <a:srgbClr val="D2D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202996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07C10"/>
                </a:solidFill>
              </a:defRPr>
            </a:pPr>
            <a:r>
              <a:t>✅  Included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2011680"/>
            <a:ext cx="3474720" cy="457200"/>
          </a:xfrm>
          <a:prstGeom prst="roundRect">
            <a:avLst/>
          </a:prstGeom>
          <a:solidFill>
            <a:srgbClr val="F3F2F1"/>
          </a:solidFill>
          <a:ln w="12700">
            <a:solidFill>
              <a:srgbClr val="D2D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202996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42424"/>
                </a:solidFill>
              </a:defRPr>
            </a:pPr>
            <a:r>
              <a:t>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523744"/>
            <a:ext cx="347472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542032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42424"/>
                </a:solidFill>
              </a:defRPr>
            </a:pPr>
            <a:r>
              <a:t>At-Scale Visibility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6240" y="2523744"/>
            <a:ext cx="347472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2542032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07C10"/>
                </a:solidFill>
              </a:defRPr>
            </a:pPr>
            <a:r>
              <a:t>✅  Included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63840" y="2523744"/>
            <a:ext cx="347472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0" y="2542032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42424"/>
                </a:solidFill>
              </a:defRPr>
            </a:pPr>
            <a:r>
              <a:t>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035808"/>
            <a:ext cx="3474720" cy="457200"/>
          </a:xfrm>
          <a:prstGeom prst="roundRect">
            <a:avLst/>
          </a:prstGeom>
          <a:solidFill>
            <a:srgbClr val="F3F2F1"/>
          </a:solidFill>
          <a:ln w="12700">
            <a:solidFill>
              <a:srgbClr val="D2D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054096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42424"/>
                </a:solidFill>
              </a:defRPr>
            </a:pPr>
            <a:r>
              <a:t>Recommendations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06240" y="3035808"/>
            <a:ext cx="3474720" cy="457200"/>
          </a:xfrm>
          <a:prstGeom prst="roundRect">
            <a:avLst/>
          </a:prstGeom>
          <a:solidFill>
            <a:srgbClr val="F3F2F1"/>
          </a:solidFill>
          <a:ln w="12700">
            <a:solidFill>
              <a:srgbClr val="D2D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0" y="3054096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07C10"/>
                </a:solidFill>
              </a:defRPr>
            </a:pPr>
            <a:r>
              <a:t>✅  Included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63840" y="3035808"/>
            <a:ext cx="3474720" cy="457200"/>
          </a:xfrm>
          <a:prstGeom prst="roundRect">
            <a:avLst/>
          </a:prstGeom>
          <a:solidFill>
            <a:srgbClr val="F3F2F1"/>
          </a:solidFill>
          <a:ln w="12700">
            <a:solidFill>
              <a:srgbClr val="D2D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0" y="3054096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42424"/>
                </a:solidFill>
              </a:defRPr>
            </a:pPr>
            <a:r>
              <a:t>—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3547872"/>
            <a:ext cx="347472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35661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42424"/>
                </a:solidFill>
              </a:defRPr>
            </a:pPr>
            <a:r>
              <a:t>Zone-Down Drills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06240" y="3547872"/>
            <a:ext cx="347472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89120" y="35661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13438"/>
                </a:solidFill>
              </a:defRPr>
            </a:pPr>
            <a:r>
              <a:t>❌  Not included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863840" y="3547872"/>
            <a:ext cx="347472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0" y="35661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07C10"/>
                </a:solidFill>
              </a:defRPr>
            </a:pPr>
            <a:r>
              <a:t>✅  Per-drill or subscription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4059936"/>
            <a:ext cx="3474720" cy="457200"/>
          </a:xfrm>
          <a:prstGeom prst="roundRect">
            <a:avLst/>
          </a:prstGeom>
          <a:solidFill>
            <a:srgbClr val="F3F2F1"/>
          </a:solidFill>
          <a:ln w="12700">
            <a:solidFill>
              <a:srgbClr val="D2D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4078224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42424"/>
                </a:solidFill>
              </a:defRPr>
            </a:pPr>
            <a:r>
              <a:t>Recovery Orchestration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06240" y="4059936"/>
            <a:ext cx="3474720" cy="457200"/>
          </a:xfrm>
          <a:prstGeom prst="roundRect">
            <a:avLst/>
          </a:prstGeom>
          <a:solidFill>
            <a:srgbClr val="F3F2F1"/>
          </a:solidFill>
          <a:ln w="12700">
            <a:solidFill>
              <a:srgbClr val="D2D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89120" y="4078224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13438"/>
                </a:solidFill>
              </a:defRPr>
            </a:pPr>
            <a:r>
              <a:t>❌  Not included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863840" y="4059936"/>
            <a:ext cx="3474720" cy="457200"/>
          </a:xfrm>
          <a:prstGeom prst="roundRect">
            <a:avLst/>
          </a:prstGeom>
          <a:solidFill>
            <a:srgbClr val="F3F2F1"/>
          </a:solidFill>
          <a:ln w="12700">
            <a:solidFill>
              <a:srgbClr val="D2D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20" y="4078224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07C10"/>
                </a:solidFill>
              </a:defRPr>
            </a:pPr>
            <a:r>
              <a:t>✅  Per-plan or subscription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4572000"/>
            <a:ext cx="347472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459028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42424"/>
                </a:solidFill>
              </a:defRPr>
            </a:pPr>
            <a:r>
              <a:t>Regional Resiliency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206240" y="4572000"/>
            <a:ext cx="347472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9120" y="459028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13438"/>
                </a:solidFill>
              </a:defRPr>
            </a:pPr>
            <a:r>
              <a:t>❌  Not included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863840" y="4572000"/>
            <a:ext cx="347472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46720" y="459028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07C10"/>
                </a:solidFill>
              </a:defRPr>
            </a:pPr>
            <a:r>
              <a:t>✅  Premium add-on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8640" y="5084064"/>
            <a:ext cx="3474720" cy="457200"/>
          </a:xfrm>
          <a:prstGeom prst="roundRect">
            <a:avLst/>
          </a:prstGeom>
          <a:solidFill>
            <a:srgbClr val="F3F2F1"/>
          </a:solidFill>
          <a:ln w="12700">
            <a:solidFill>
              <a:srgbClr val="D2D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520" y="5102352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42424"/>
                </a:solidFill>
              </a:defRPr>
            </a:pPr>
            <a:r>
              <a:t>Dependency Discovery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206240" y="5084064"/>
            <a:ext cx="3474720" cy="457200"/>
          </a:xfrm>
          <a:prstGeom prst="roundRect">
            <a:avLst/>
          </a:prstGeom>
          <a:solidFill>
            <a:srgbClr val="F3F2F1"/>
          </a:solidFill>
          <a:ln w="12700">
            <a:solidFill>
              <a:srgbClr val="D2D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89120" y="5102352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13438"/>
                </a:solidFill>
              </a:defRPr>
            </a:pPr>
            <a:r>
              <a:t>❌  Not included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863840" y="5084064"/>
            <a:ext cx="3474720" cy="457200"/>
          </a:xfrm>
          <a:prstGeom prst="roundRect">
            <a:avLst/>
          </a:prstGeom>
          <a:solidFill>
            <a:srgbClr val="F3F2F1"/>
          </a:solidFill>
          <a:ln w="12700">
            <a:solidFill>
              <a:srgbClr val="D2D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46720" y="5102352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07C10"/>
                </a:solidFill>
              </a:defRPr>
            </a:pPr>
            <a:r>
              <a:t>✅  Premium add-on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48640" y="5596128"/>
            <a:ext cx="347472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1520" y="5614416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42424"/>
                </a:solidFill>
              </a:defRPr>
            </a:pPr>
            <a:r>
              <a:t>Agent Interactions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206240" y="5596128"/>
            <a:ext cx="347472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389120" y="5614416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42424"/>
                </a:solidFill>
              </a:defRPr>
            </a:pPr>
            <a:r>
              <a:t>Limited free usage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863840" y="5596128"/>
            <a:ext cx="347472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046720" y="5614416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07C10"/>
                </a:solidFill>
              </a:defRPr>
            </a:pPr>
            <a:r>
              <a:t>✅  Usage-based pricing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2B5C"/>
                </a:solidFill>
              </a:defRPr>
            </a:pPr>
            <a:r>
              <a:t>Margin Expectations: A Realistic 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064240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303520" cy="2743200"/>
          </a:xfrm>
          <a:prstGeom prst="roundRect">
            <a:avLst/>
          </a:prstGeom>
          <a:solidFill>
            <a:srgbClr val="FFF4CE"/>
          </a:solidFill>
          <a:ln w="12700">
            <a:solidFill>
              <a:srgbClr val="D2D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2B5C"/>
                </a:solidFill>
              </a:defRPr>
            </a:pPr>
            <a:r>
              <a:t>⚠  The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42424"/>
                </a:solidFill>
              </a:defRPr>
            </a:pPr>
            <a:r>
              <a:t>Achieving 70% margin requires aggressive assumptions:</a:t>
            </a:r>
          </a:p>
          <a:p>
            <a:pPr>
              <a:spcAft>
                <a:spcPts val="800"/>
              </a:spcAft>
              <a:defRPr sz="1500" b="0">
                <a:solidFill>
                  <a:srgbClr val="242424"/>
                </a:solidFill>
              </a:defRPr>
            </a:pPr>
          </a:p>
          <a:p>
            <a:pPr>
              <a:spcAft>
                <a:spcPts val="800"/>
              </a:spcAft>
              <a:defRPr sz="1500" b="0">
                <a:solidFill>
                  <a:srgbClr val="242424"/>
                </a:solidFill>
              </a:defRPr>
            </a:pPr>
            <a:r>
              <a:t>•  ~30,000 service groups</a:t>
            </a:r>
          </a:p>
          <a:p>
            <a:pPr>
              <a:spcAft>
                <a:spcPts val="800"/>
              </a:spcAft>
              <a:defRPr sz="1500" b="0">
                <a:solidFill>
                  <a:srgbClr val="242424"/>
                </a:solidFill>
              </a:defRPr>
            </a:pPr>
            <a:r>
              <a:t>•  High paid-tier conversion rates</a:t>
            </a:r>
          </a:p>
          <a:p>
            <a:pPr>
              <a:spcAft>
                <a:spcPts val="800"/>
              </a:spcAft>
              <a:defRPr sz="1500" b="0">
                <a:solidFill>
                  <a:srgbClr val="242424"/>
                </a:solidFill>
              </a:defRPr>
            </a:pPr>
            <a:r>
              <a:t>•  Large attach rates for add-ons</a:t>
            </a:r>
          </a:p>
          <a:p>
            <a:pPr>
              <a:spcAft>
                <a:spcPts val="800"/>
              </a:spcAft>
              <a:defRPr sz="1500" b="0">
                <a:solidFill>
                  <a:srgbClr val="242424"/>
                </a:solidFill>
              </a:defRPr>
            </a:pPr>
          </a:p>
          <a:p>
            <a:pPr>
              <a:spcAft>
                <a:spcPts val="800"/>
              </a:spcAft>
              <a:defRPr sz="1500" b="0">
                <a:solidFill>
                  <a:srgbClr val="242424"/>
                </a:solidFill>
              </a:defRPr>
            </a:pPr>
            <a:r>
              <a:t>Current service group counts are significantly</a:t>
            </a:r>
          </a:p>
          <a:p>
            <a:pPr>
              <a:spcAft>
                <a:spcPts val="800"/>
              </a:spcAft>
              <a:defRPr sz="1500" b="0">
                <a:solidFill>
                  <a:srgbClr val="242424"/>
                </a:solidFill>
              </a:defRPr>
            </a:pPr>
            <a:r>
              <a:t>lower. Reaching 30K quickly is unrealistic.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63040"/>
            <a:ext cx="5303520" cy="2743200"/>
          </a:xfrm>
          <a:prstGeom prst="roundRect">
            <a:avLst/>
          </a:prstGeom>
          <a:solidFill>
            <a:srgbClr val="DFF6DD"/>
          </a:solidFill>
          <a:ln w="12700">
            <a:solidFill>
              <a:srgbClr val="D2D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6459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2B5C"/>
                </a:solidFill>
              </a:defRPr>
            </a:pPr>
            <a:r>
              <a:t>✅  Recommended Direction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19456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42424"/>
                </a:solidFill>
              </a:defRPr>
            </a:pPr>
            <a:r>
              <a:t>Lead with adoption metrics, not margin targets:</a:t>
            </a:r>
          </a:p>
          <a:p>
            <a:pPr>
              <a:spcAft>
                <a:spcPts val="800"/>
              </a:spcAft>
              <a:defRPr sz="1500" b="0">
                <a:solidFill>
                  <a:srgbClr val="242424"/>
                </a:solidFill>
              </a:defRPr>
            </a:pPr>
          </a:p>
          <a:p>
            <a:pPr>
              <a:spcAft>
                <a:spcPts val="800"/>
              </a:spcAft>
              <a:defRPr sz="1500" b="0">
                <a:solidFill>
                  <a:srgbClr val="242424"/>
                </a:solidFill>
              </a:defRPr>
            </a:pPr>
            <a:r>
              <a:t>•  Challenge whether 70-80% is the right target</a:t>
            </a:r>
          </a:p>
          <a:p>
            <a:pPr>
              <a:spcAft>
                <a:spcPts val="800"/>
              </a:spcAft>
              <a:defRPr sz="1500" b="0">
                <a:solidFill>
                  <a:srgbClr val="242424"/>
                </a:solidFill>
              </a:defRPr>
            </a:pPr>
            <a:r>
              <a:t>•  Frame IRM as an early-stage value-added service</a:t>
            </a:r>
          </a:p>
          <a:p>
            <a:pPr>
              <a:spcAft>
                <a:spcPts val="800"/>
              </a:spcAft>
              <a:defRPr sz="1500" b="0">
                <a:solidFill>
                  <a:srgbClr val="242424"/>
                </a:solidFill>
              </a:defRPr>
            </a:pPr>
            <a:r>
              <a:t>•  Margin is a secondary optimization</a:t>
            </a:r>
          </a:p>
          <a:p>
            <a:pPr>
              <a:spcAft>
                <a:spcPts val="800"/>
              </a:spcAft>
              <a:defRPr sz="1500" b="0">
                <a:solidFill>
                  <a:srgbClr val="242424"/>
                </a:solidFill>
              </a:defRPr>
            </a:pPr>
            <a:r>
              <a:t>•  Adoption &amp; customer value come first</a:t>
            </a:r>
          </a:p>
          <a:p>
            <a:pPr>
              <a:spcAft>
                <a:spcPts val="800"/>
              </a:spcAft>
              <a:defRPr sz="1500" b="0">
                <a:solidFill>
                  <a:srgbClr val="242424"/>
                </a:solidFill>
              </a:defRPr>
            </a:pPr>
          </a:p>
          <a:p>
            <a:pPr>
              <a:spcAft>
                <a:spcPts val="800"/>
              </a:spcAft>
              <a:defRPr sz="1500" b="0">
                <a:solidFill>
                  <a:srgbClr val="242424"/>
                </a:solidFill>
              </a:defRPr>
            </a:pPr>
            <a:r>
              <a:t>Competitors (e.g., AWS) charge substantially more.</a:t>
            </a:r>
          </a:p>
          <a:p>
            <a:pPr>
              <a:spcAft>
                <a:spcPts val="800"/>
              </a:spcAft>
              <a:defRPr sz="1500" b="0">
                <a:solidFill>
                  <a:srgbClr val="242424"/>
                </a:solidFill>
              </a:defRPr>
            </a:pPr>
            <a:r>
              <a:t>Current ~$5 placeholders may undervalue the offering.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75488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2B5C"/>
                </a:solidFill>
              </a:defRPr>
            </a:pPr>
            <a:r>
              <a:t>Key message for Finance:</a:t>
            </a:r>
          </a:p>
          <a:p>
            <a:pPr>
              <a:spcAft>
                <a:spcPts val="800"/>
              </a:spcAft>
              <a:defRPr sz="1800" b="0">
                <a:solidFill>
                  <a:srgbClr val="002B5C"/>
                </a:solidFill>
              </a:defRPr>
            </a:pPr>
            <a:r>
              <a:t>"This is a new product in a new category. Evaluate it on adoption trajectory and customer value —</a:t>
            </a:r>
          </a:p>
          <a:p>
            <a:pPr>
              <a:spcAft>
                <a:spcPts val="800"/>
              </a:spcAft>
              <a:defRPr sz="1800" b="0">
                <a:solidFill>
                  <a:srgbClr val="002B5C"/>
                </a:solidFill>
              </a:defRPr>
            </a:pPr>
            <a:r>
              <a:t> not on the same margin benchmarks as mature infrastructure services."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2B5C"/>
                </a:solidFill>
              </a:defRPr>
            </a:pPr>
            <a:r>
              <a:t>Open Question: Agent Value Curve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064240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42424"/>
                </a:solidFill>
              </a:defRPr>
            </a:pPr>
            <a:r>
              <a:t>Before pricing the Agent, we need to answer a fundamental product question: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11064240" cy="109728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D2D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78D4"/>
                </a:solidFill>
              </a:defRPr>
            </a:pPr>
            <a:r>
              <a:t>What capabilities must exist before customers genuinely prefer</a:t>
            </a:r>
            <a:br/>
            <a:r>
              <a:t>the Agent over the portal?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7472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42424"/>
                </a:solidFill>
              </a:defRPr>
            </a:pPr>
            <a:r>
              <a:t>This is a product strategy exercise, not a monetization exercise.</a:t>
            </a:r>
          </a:p>
          <a:p>
            <a:pPr>
              <a:spcAft>
                <a:spcPts val="800"/>
              </a:spcAft>
              <a:defRPr sz="1700" b="0">
                <a:solidFill>
                  <a:srgbClr val="242424"/>
                </a:solidFill>
              </a:defRPr>
            </a:pPr>
          </a:p>
          <a:p>
            <a:pPr>
              <a:spcAft>
                <a:spcPts val="800"/>
              </a:spcAft>
              <a:defRPr sz="1700" b="1">
                <a:solidFill>
                  <a:srgbClr val="242424"/>
                </a:solidFill>
              </a:defRPr>
            </a:pPr>
            <a:r>
              <a:t>Recommended next steps:</a:t>
            </a:r>
          </a:p>
          <a:p>
            <a:pPr>
              <a:spcAft>
                <a:spcPts val="800"/>
              </a:spcAft>
              <a:defRPr sz="1700" b="0">
                <a:solidFill>
                  <a:srgbClr val="242424"/>
                </a:solidFill>
              </a:defRPr>
            </a:pPr>
          </a:p>
          <a:p>
            <a:pPr>
              <a:spcAft>
                <a:spcPts val="800"/>
              </a:spcAft>
              <a:defRPr sz="1700" b="0">
                <a:solidFill>
                  <a:srgbClr val="242424"/>
                </a:solidFill>
              </a:defRPr>
            </a:pPr>
            <a:r>
              <a:t>•  Build a customer value curve for the Resiliency Agent</a:t>
            </a:r>
          </a:p>
          <a:p>
            <a:pPr>
              <a:spcAft>
                <a:spcPts val="800"/>
              </a:spcAft>
              <a:defRPr sz="1700" b="0">
                <a:solidFill>
                  <a:srgbClr val="242424"/>
                </a:solidFill>
              </a:defRPr>
            </a:pPr>
            <a:r>
              <a:t>•  Define what "agent delight" looks like — when is the agent genuinely</a:t>
            </a:r>
          </a:p>
          <a:p>
            <a:pPr>
              <a:spcAft>
                <a:spcPts val="800"/>
              </a:spcAft>
              <a:defRPr sz="1700" b="0">
                <a:solidFill>
                  <a:srgbClr val="242424"/>
                </a:solidFill>
              </a:defRPr>
            </a:pPr>
            <a:r>
              <a:t>    better than clicking through the portal?</a:t>
            </a:r>
          </a:p>
          <a:p>
            <a:pPr>
              <a:spcAft>
                <a:spcPts val="800"/>
              </a:spcAft>
              <a:defRPr sz="1700" b="0">
                <a:solidFill>
                  <a:srgbClr val="242424"/>
                </a:solidFill>
              </a:defRPr>
            </a:pPr>
            <a:r>
              <a:t>•  Identify missing capabilities required to achieve meaningful adoption</a:t>
            </a:r>
          </a:p>
          <a:p>
            <a:pPr>
              <a:spcAft>
                <a:spcPts val="800"/>
              </a:spcAft>
              <a:defRPr sz="1700" b="0">
                <a:solidFill>
                  <a:srgbClr val="242424"/>
                </a:solidFill>
              </a:defRPr>
            </a:pPr>
            <a:r>
              <a:t>•  Use these insights to inform agent pricing model (usage-based,</a:t>
            </a:r>
          </a:p>
          <a:p>
            <a:pPr>
              <a:spcAft>
                <a:spcPts val="800"/>
              </a:spcAft>
              <a:defRPr sz="1700" b="0">
                <a:solidFill>
                  <a:srgbClr val="242424"/>
                </a:solidFill>
              </a:defRPr>
            </a:pPr>
            <a:r>
              <a:t>    outcome-based, or hybrid)</a:t>
            </a:r>
          </a:p>
          <a:p>
            <a:pPr>
              <a:spcAft>
                <a:spcPts val="800"/>
              </a:spcAft>
              <a:defRPr sz="1700" b="0">
                <a:solidFill>
                  <a:srgbClr val="242424"/>
                </a:solidFill>
              </a:defRPr>
            </a:pPr>
          </a:p>
          <a:p>
            <a:pPr>
              <a:spcAft>
                <a:spcPts val="800"/>
              </a:spcAft>
              <a:defRPr sz="1700" b="0">
                <a:solidFill>
                  <a:srgbClr val="242424"/>
                </a:solidFill>
              </a:defRPr>
            </a:pPr>
            <a:r>
              <a:t>Until this work is done, keep agent pricing separate and flexible.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2B5C"/>
                </a:solidFill>
              </a:defRPr>
            </a:pPr>
            <a:r>
              <a:t>Competitive Context &amp; Pricing Signals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064240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42424"/>
                </a:solidFill>
              </a:defRPr>
            </a:pPr>
            <a:r>
              <a:t>Key observations from the discussion:</a:t>
            </a:r>
          </a:p>
          <a:p>
            <a:pPr>
              <a:spcAft>
                <a:spcPts val="800"/>
              </a:spcAft>
              <a:defRPr sz="1700" b="0">
                <a:solidFill>
                  <a:srgbClr val="242424"/>
                </a:solidFill>
              </a:defRPr>
            </a:pPr>
          </a:p>
          <a:p>
            <a:pPr>
              <a:spcAft>
                <a:spcPts val="800"/>
              </a:spcAft>
              <a:defRPr sz="1700" b="0">
                <a:solidFill>
                  <a:srgbClr val="242424"/>
                </a:solidFill>
              </a:defRPr>
            </a:pPr>
            <a:r>
              <a:t>•  AWS charges substantially higher for comparable resiliency capabilities</a:t>
            </a:r>
          </a:p>
          <a:p>
            <a:pPr>
              <a:spcAft>
                <a:spcPts val="800"/>
              </a:spcAft>
              <a:defRPr sz="1700" b="0">
                <a:solidFill>
                  <a:srgbClr val="242424"/>
                </a:solidFill>
              </a:defRPr>
            </a:pPr>
            <a:r>
              <a:t>•  Current placeholder prices (~$5 per service group) may significantly</a:t>
            </a:r>
          </a:p>
          <a:p>
            <a:pPr>
              <a:spcAft>
                <a:spcPts val="800"/>
              </a:spcAft>
              <a:defRPr sz="1700" b="0">
                <a:solidFill>
                  <a:srgbClr val="242424"/>
                </a:solidFill>
              </a:defRPr>
            </a:pPr>
            <a:r>
              <a:t>    undervalue the offering</a:t>
            </a:r>
          </a:p>
          <a:p>
            <a:pPr>
              <a:spcAft>
                <a:spcPts val="800"/>
              </a:spcAft>
              <a:defRPr sz="1700" b="0">
                <a:solidFill>
                  <a:srgbClr val="242424"/>
                </a:solidFill>
              </a:defRPr>
            </a:pPr>
            <a:r>
              <a:t>•  Freemium model is common in this space — but premium tiers must</a:t>
            </a:r>
          </a:p>
          <a:p>
            <a:pPr>
              <a:spcAft>
                <a:spcPts val="800"/>
              </a:spcAft>
              <a:defRPr sz="1700" b="0">
                <a:solidFill>
                  <a:srgbClr val="242424"/>
                </a:solidFill>
              </a:defRPr>
            </a:pPr>
            <a:r>
              <a:t>    capture real value</a:t>
            </a:r>
          </a:p>
          <a:p>
            <a:pPr>
              <a:spcAft>
                <a:spcPts val="800"/>
              </a:spcAft>
              <a:defRPr sz="1700" b="0">
                <a:solidFill>
                  <a:srgbClr val="242424"/>
                </a:solidFill>
              </a:defRPr>
            </a:pPr>
          </a:p>
          <a:p>
            <a:pPr>
              <a:spcAft>
                <a:spcPts val="800"/>
              </a:spcAft>
              <a:defRPr sz="1700" b="1">
                <a:solidFill>
                  <a:srgbClr val="242424"/>
                </a:solidFill>
              </a:defRPr>
            </a:pPr>
            <a:r>
              <a:t>Pricing should reflect:</a:t>
            </a:r>
          </a:p>
          <a:p>
            <a:pPr>
              <a:spcAft>
                <a:spcPts val="800"/>
              </a:spcAft>
              <a:defRPr sz="1700" b="0">
                <a:solidFill>
                  <a:srgbClr val="242424"/>
                </a:solidFill>
              </a:defRPr>
            </a:pPr>
          </a:p>
          <a:p>
            <a:pPr>
              <a:spcAft>
                <a:spcPts val="800"/>
              </a:spcAft>
              <a:defRPr sz="1700" b="0">
                <a:solidFill>
                  <a:srgbClr val="242424"/>
                </a:solidFill>
              </a:defRPr>
            </a:pPr>
            <a:r>
              <a:t>•  The cost of NOT having zone resiliency (outage impact)</a:t>
            </a:r>
          </a:p>
          <a:p>
            <a:pPr>
              <a:spcAft>
                <a:spcPts val="800"/>
              </a:spcAft>
              <a:defRPr sz="1700" b="0">
                <a:solidFill>
                  <a:srgbClr val="242424"/>
                </a:solidFill>
              </a:defRPr>
            </a:pPr>
            <a:r>
              <a:t>•  The value of validated, tested recovery (measured RTO)</a:t>
            </a:r>
          </a:p>
          <a:p>
            <a:pPr>
              <a:spcAft>
                <a:spcPts val="800"/>
              </a:spcAft>
              <a:defRPr sz="1700" b="0">
                <a:solidFill>
                  <a:srgbClr val="242424"/>
                </a:solidFill>
              </a:defRPr>
            </a:pPr>
            <a:r>
              <a:t>•  The operational savings from automated assessment vs. manual review</a:t>
            </a:r>
          </a:p>
          <a:p>
            <a:pPr>
              <a:spcAft>
                <a:spcPts val="800"/>
              </a:spcAft>
              <a:defRPr sz="1700" b="0">
                <a:solidFill>
                  <a:srgbClr val="242424"/>
                </a:solidFill>
              </a:defRPr>
            </a:pPr>
            <a:r>
              <a:t>•  Competitive positioning — don't underprice relative to market</a:t>
            </a:r>
          </a:p>
          <a:p>
            <a:pPr>
              <a:spcAft>
                <a:spcPts val="800"/>
              </a:spcAft>
              <a:defRPr sz="1700" b="0">
                <a:solidFill>
                  <a:srgbClr val="242424"/>
                </a:solidFill>
              </a:defRPr>
            </a:pPr>
          </a:p>
          <a:p>
            <a:pPr>
              <a:spcAft>
                <a:spcPts val="800"/>
              </a:spcAft>
              <a:defRPr sz="1700" b="1">
                <a:solidFill>
                  <a:srgbClr val="242424"/>
                </a:solidFill>
              </a:defRPr>
            </a:pPr>
            <a:r>
              <a:t>Action: Review competitive pricing data before finalizing tier pricing.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2B5C"/>
                </a:solidFill>
              </a:defRPr>
            </a:pPr>
            <a:r>
              <a:t>Summary: What We Aligned 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064240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371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002B5C"/>
                </a:solidFill>
              </a:defRPr>
            </a:pPr>
            <a:r>
              <a:t>Continue with Option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139903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E"/>
                </a:solidFill>
              </a:defRPr>
            </a:pPr>
            <a:r>
              <a:t>Stop reopening. Document rationale and execute.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240280"/>
            <a:ext cx="457200" cy="45720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1945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002B5C"/>
                </a:solidFill>
              </a:defRPr>
            </a:pPr>
            <a:r>
              <a:t>Adoption before margin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222199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E"/>
                </a:solidFill>
              </a:defRPr>
            </a:pPr>
            <a:r>
              <a:t>New product, new category. Margin is secondary.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063240"/>
            <a:ext cx="457200" cy="45720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175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002B5C"/>
                </a:solidFill>
              </a:defRPr>
            </a:pPr>
            <a:r>
              <a:t>Separate IRM &amp; Agent pricing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304495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E"/>
                </a:solidFill>
              </a:defRPr>
            </a:pPr>
            <a:r>
              <a:t>Flexibility to evolve each independently.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886200"/>
            <a:ext cx="457200" cy="45720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8404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002B5C"/>
                </a:solidFill>
              </a:defRPr>
            </a:pPr>
            <a:r>
              <a:t>Free/freemium entry 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386791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E"/>
                </a:solidFill>
              </a:defRPr>
            </a:pPr>
            <a:r>
              <a:t>Show value upfront. Convert via the "hook."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4709160"/>
            <a:ext cx="457200" cy="45720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6634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002B5C"/>
                </a:solidFill>
              </a:defRPr>
            </a:pPr>
            <a:r>
              <a:t>Capability-level pricing first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69087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E"/>
                </a:solidFill>
              </a:defRPr>
            </a:pPr>
            <a:r>
              <a:t>Price individual features. Bundle later with data.</a:t>
            </a:r>
          </a:p>
        </p:txBody>
      </p:sp>
      <p:sp>
        <p:nvSpPr>
          <p:cNvPr id="20" name="Oval 19"/>
          <p:cNvSpPr/>
          <p:nvPr/>
        </p:nvSpPr>
        <p:spPr>
          <a:xfrm>
            <a:off x="548640" y="5532120"/>
            <a:ext cx="457200" cy="45720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54864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002B5C"/>
                </a:solidFill>
              </a:defRPr>
            </a:pPr>
            <a:r>
              <a:t>Build Agent value curve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551383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E6E6E"/>
                </a:solidFill>
              </a:defRPr>
            </a:pPr>
            <a:r>
              <a:t>Product exercise first, pricing exercise second.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2B5C"/>
                </a:solidFill>
              </a:defRPr>
            </a:pPr>
            <a:r>
              <a:t>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064240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1064240" cy="685800"/>
          </a:xfrm>
          <a:prstGeom prst="roundRect">
            <a:avLst/>
          </a:prstGeom>
          <a:solidFill>
            <a:srgbClr val="F3F2F1"/>
          </a:solidFill>
          <a:ln w="12700">
            <a:solidFill>
              <a:srgbClr val="D2D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</a:defRPr>
            </a:pPr>
            <a:r>
              <a:t>Document Option B rationale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417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E6E6E"/>
                </a:solidFill>
              </a:defRPr>
            </a:pPr>
            <a:r>
              <a:t>Create concise artifact: options evaluated, pros/cons, why B was chosen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141732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78D4"/>
                </a:solidFill>
              </a:defRPr>
            </a:pPr>
            <a:r>
              <a:t>Aditya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94560"/>
            <a:ext cx="11064240" cy="685800"/>
          </a:xfrm>
          <a:prstGeom prst="roundRect">
            <a:avLst/>
          </a:prstGeom>
          <a:solidFill>
            <a:srgbClr val="F3F2F1"/>
          </a:solidFill>
          <a:ln w="12700">
            <a:solidFill>
              <a:srgbClr val="D2D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2402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</a:defRPr>
            </a:pPr>
            <a:r>
              <a:t>Position strategy for LT/Finance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240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E6E6E"/>
                </a:solidFill>
              </a:defRPr>
            </a:pPr>
            <a:r>
              <a:t>Frame around: new product, new agent, adoption-first philosophy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24028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78D4"/>
                </a:solidFill>
              </a:defRPr>
            </a:pPr>
            <a:r>
              <a:t>Team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17520"/>
            <a:ext cx="11064240" cy="685800"/>
          </a:xfrm>
          <a:prstGeom prst="roundRect">
            <a:avLst/>
          </a:prstGeom>
          <a:solidFill>
            <a:srgbClr val="F3F2F1"/>
          </a:solidFill>
          <a:ln w="12700">
            <a:solidFill>
              <a:srgbClr val="D2D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0632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</a:defRPr>
            </a:pPr>
            <a:r>
              <a:t>Define Agent value curve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063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E6E6E"/>
                </a:solidFill>
              </a:defRPr>
            </a:pPr>
            <a:r>
              <a:t>Product exercise: what capabilities = agent delight?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306324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78D4"/>
                </a:solidFill>
              </a:defRPr>
            </a:pPr>
            <a:r>
              <a:t>Kirushna + PM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840480"/>
            <a:ext cx="11064240" cy="685800"/>
          </a:xfrm>
          <a:prstGeom prst="roundRect">
            <a:avLst/>
          </a:prstGeom>
          <a:solidFill>
            <a:srgbClr val="F3F2F1"/>
          </a:solidFill>
          <a:ln w="12700">
            <a:solidFill>
              <a:srgbClr val="D2D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8862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</a:defRPr>
            </a:pPr>
            <a:r>
              <a:t>Review competitive pricing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3886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E6E6E"/>
                </a:solidFill>
              </a:defRPr>
            </a:pPr>
            <a:r>
              <a:t>Validate tier pricing against AWS and market benchmarks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0" y="38862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78D4"/>
                </a:solidFill>
              </a:defRPr>
            </a:pPr>
            <a:r>
              <a:t>Aditya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663440"/>
            <a:ext cx="11064240" cy="685800"/>
          </a:xfrm>
          <a:prstGeom prst="roundRect">
            <a:avLst/>
          </a:prstGeom>
          <a:solidFill>
            <a:srgbClr val="F3F2F1"/>
          </a:solidFill>
          <a:ln w="12700">
            <a:solidFill>
              <a:srgbClr val="D2D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7091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</a:defRPr>
            </a:pPr>
            <a:r>
              <a:t>Build free-tier justification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4709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E6E6E"/>
                </a:solidFill>
              </a:defRPr>
            </a:pPr>
            <a:r>
              <a:t>Prepare materials for Finance on freemium rationale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470916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78D4"/>
                </a:solidFill>
              </a:defRPr>
            </a:pPr>
            <a:r>
              <a:t>Team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486400"/>
            <a:ext cx="11064240" cy="685800"/>
          </a:xfrm>
          <a:prstGeom prst="roundRect">
            <a:avLst/>
          </a:prstGeom>
          <a:solidFill>
            <a:srgbClr val="F3F2F1"/>
          </a:solidFill>
          <a:ln w="12700">
            <a:solidFill>
              <a:srgbClr val="D2D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5321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</a:defRPr>
            </a:pPr>
            <a:r>
              <a:t>Finalize capability pricing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5532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E6E6E"/>
                </a:solidFill>
              </a:defRPr>
            </a:pPr>
            <a:r>
              <a:t>Individual capability prices for drills, recovery, add-ons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553212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78D4"/>
                </a:solidFill>
              </a:defRPr>
            </a:pPr>
            <a:r>
              <a:t>Aditya + Finance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50E6FF"/>
                </a:solidFill>
              </a:defRPr>
            </a:pPr>
            <a:r>
              <a:t>One-Line Takeaway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Adoption-first monetization: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200" b="0">
                <a:solidFill>
                  <a:srgbClr val="50E6FF"/>
                </a:solidFill>
              </a:defRPr>
            </a:pPr>
            <a:r>
              <a:t>Free/freemium entry  •  IRM priced separately from Agent</a:t>
            </a:r>
          </a:p>
          <a:p>
            <a:pPr algn="ctr">
              <a:spcAft>
                <a:spcPts val="800"/>
              </a:spcAft>
              <a:defRPr sz="2200" b="0">
                <a:solidFill>
                  <a:srgbClr val="50E6FF"/>
                </a:solidFill>
              </a:defRPr>
            </a:pPr>
            <a:r>
              <a:t>Capability-level paid tiers  •  Bundles deferred until maturity</a:t>
            </a:r>
          </a:p>
          <a:p>
            <a:pPr algn="ctr">
              <a:spcAft>
                <a:spcPts val="800"/>
              </a:spcAft>
              <a:defRPr sz="2200" b="0">
                <a:solidFill>
                  <a:srgbClr val="50E6FF"/>
                </a:solidFill>
              </a:defRPr>
            </a:pPr>
            <a:r>
              <a:t>Margin targets revisited after meaningful adoption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