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76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0350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slide. Introduce yourself and set context:</a:t>
            </a:r>
          </a:p>
          <a:p>
            <a:r>
              <a:t>- "Today I'm going to show you how Azure helps you get resilient across three customer journeys — Start Resilient, Get Resilient, and Stay Resilient."</a:t>
            </a:r>
          </a:p>
          <a:p>
            <a:r>
              <a:t>- "We'll use the Resiliency Agent and Infrastructure Resiliency Manager together, with two live applications deployed in Azure."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Agenda overview. Keep this brief — 30 seconds max.</a:t>
            </a:r>
          </a:p>
          <a:p>
            <a:r>
              <a:t>"Three phases, each matching a different customer state: deploying something new, hardening existing apps, or keeping a resilient estate from drifting. The Resiliency Agent and IRM meet you wherever you are."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Reference slide — keep visible or memorize key URLs.</a:t>
            </a:r>
          </a:p>
          <a:p>
            <a:r>
              <a:t>Pre-open browser tabs: both app URLs + IRM portal + Resiliency Agent.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 to Phase 1.</a:t>
            </a:r>
          </a:p>
          <a:p>
            <a:r>
              <a:t>"The first customer journey: Start Resilient. This is the greenfield moment — you're deploying something new, and you want to get the architecture right from the outset."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the scene: "This is the customer who is about to deploy something new. Maybe they're modernizing a legacy app, maybe it's a net-new workload. They want to get it right from the start."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the Resiliency Agent in the Azure portal.</a:t>
            </a:r>
          </a:p>
          <a:p>
            <a:r>
              <a:t>Type the prompt and walk through the agent's response.</a:t>
            </a:r>
          </a:p>
          <a:p>
            <a:r>
              <a:t>Highlight: the customer leaves with deployable IaC, not a list of recommendations.</a:t>
            </a:r>
          </a:p>
          <a:p>
            <a:r>
              <a:t>If time allows, show Terraform generation as well.</a:t>
            </a:r>
          </a:p>
          <a:p>
            <a:r>
              <a:t>"The proof point is that you leave this conversation with deployment-ready code."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 this land. Then transition:</a:t>
            </a:r>
          </a:p>
          <a:p>
            <a:r>
              <a:t>"But what about the apps you already have running? That's the next journey — Get Resilient."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Transition: "Now let's talk about the biggest installed base — the apps that are already running in Azure. How do you protect what's critical and close the gaps?"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the AKS app in browser. Show it's live.</a:t>
            </a:r>
          </a:p>
          <a:p>
            <a:r>
              <a:t>Key point: "The compute layer looks resilient — nodes across 3 zones. But look at the dependencies:</a:t>
            </a:r>
          </a:p>
          <a:p>
            <a:r>
              <a:t>SQL and Storage are NOT zone-redundant. If Zone 1 goes down, compute survives but data might not."</a:t>
            </a:r>
          </a:p>
          <a:p>
            <a:r>
              <a:t>This is a typical brownfield reality.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the VM app in browser — or skip if not yet available.</a:t>
            </a:r>
          </a:p>
          <a:p>
            <a:r>
              <a:t>Key point: VM-based app with ASR recovery plan is coming soon.</a:t>
            </a:r>
          </a:p>
          <a:p>
            <a:r>
              <a:t>Transition to the IRM at-scale assessment view.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Switch to portal now. Navigate to Resiliency Overview.</a:t>
            </a:r>
          </a:p>
          <a:p>
            <a:r>
              <a:t>Point out the non-resilient service groups tile.</a:t>
            </a:r>
          </a:p>
          <a:p>
            <a:r>
              <a:t>First show IRMDemoSGDayZero — click into it and show the onboarding experience.</a:t>
            </a:r>
          </a:p>
          <a:p>
            <a:r>
              <a:t>"This is how simple it is — assign a goal and you're onboarded."</a:t>
            </a:r>
          </a:p>
          <a:p>
            <a:r>
              <a:t>Then switch to IRMDemoSG5 which has everything pre-created.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IRMDemoSG5.</a:t>
            </a:r>
          </a:p>
          <a:p>
            <a:r>
              <a:t>Point to green checkmarks and red X's for each resource.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Click Resolve on the SQL Database recommendation.</a:t>
            </a:r>
          </a:p>
          <a:p>
            <a:r>
              <a:t>Walk through the Copilot response — show the categorization of fixes.</a:t>
            </a:r>
          </a:p>
          <a:p>
            <a:r>
              <a:t>If time allows, prompt: "Generate a Bicep template with zone redundancy enabled."</a:t>
            </a:r>
          </a:p>
          <a:p>
            <a:r>
              <a:t>"The agent categorizes each fix by effort and generates deployment-ready code."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Pause — let value land.</a:t>
            </a:r>
          </a:p>
          <a:p>
            <a:r>
              <a:t>Transition: "Assessment done. Gaps closed. But how do we make sure it stays that way?"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Transition: "You've invested in making your apps zone-resilient. But environments drift — new deployments from old templates, configuration changes. How do you keep your estate from silently regressing?"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a service group where posture has changed.</a:t>
            </a:r>
          </a:p>
          <a:p>
            <a:r>
              <a:t>Trigger the rediscovery action. Point out the non-compliant resource and the recommendation.</a:t>
            </a:r>
          </a:p>
          <a:p>
            <a:r>
              <a:t>"This is the drift you didn't know about. Trigger a rediscovery and IRM shows you exactly what drifted."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recommended approach for time-constrained demos.</a:t>
            </a:r>
          </a:p>
          <a:p>
            <a:r>
              <a:t>Run the drill 30 minutes before the meeting. The Activity Log persists in the browser.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Execute the drill or show pre-recorded Activity Log.</a:t>
            </a:r>
          </a:p>
          <a:p>
            <a:r>
              <a:t>"We validated what should survive. The Activity Log provides compliance evidence for audit.</a:t>
            </a:r>
          </a:p>
          <a:p>
            <a:r>
              <a:t>Next step: make SQL zone-redundant, then run the full drill with all resources in scope."</a:t>
            </a:r>
          </a:p>
          <a:p>
            <a:r>
              <a:t>After the drill, pods may cluster on one zone. Run kubectl delete pods to rebalance.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VM drill is coming soon. Skip this slide if not yet available.</a:t>
            </a:r>
          </a:p>
          <a:p>
            <a:r>
              <a:t>Transition: "Recovery orchestration proves your team can recover under pressure.</a:t>
            </a:r>
          </a:p>
          <a:p>
            <a:r>
              <a:t>That's how you stay resilient."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 this land. Then move to summary.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Summary slide — quick recap.</a:t>
            </a:r>
          </a:p>
          <a:p>
            <a:r>
              <a:t>"Three journeys. Start right, protect what's critical, keep it from drifting.</a:t>
            </a:r>
          </a:p>
          <a:p>
            <a:r>
              <a:t>The Resiliency Agent and IRM meet the customer wherever they are."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actionable next steps.</a:t>
            </a:r>
          </a:p>
          <a:p>
            <a:r>
              <a:t>Start with the agent (Start Resilient) — lowest friction entry point.</a:t>
            </a:r>
          </a:p>
          <a:p>
            <a:r>
              <a:t>Then offer to help set up service groups and run their first drill.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Hidden slide for presenter prep only. Don't show this during the demo.</a:t>
            </a:r>
          </a:p>
          <a:p>
            <a:r>
              <a:t>Run through this checklist 30 minutes before your session.</a:t>
            </a:r>
          </a:p>
          <a:p>
            <a:r>
              <a:t>The AKS drill pre-execution is RECOMMENDED — the Activity Log in the web app</a:t>
            </a:r>
          </a:p>
          <a:p>
            <a:r>
              <a:t>provides compelling proof of zone resilience without waiting during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irm-demo-aks.westus2.cloudapp.azure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Infrastructure Resiliency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50E6FF"/>
                </a:solidFill>
              </a:defRPr>
            </a:pPr>
            <a:r>
              <a:t>Field Demo Walking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</a:defRPr>
            </a:pPr>
            <a:r>
              <a:t>Contoso Retail — Start Resilient, Get Resilient, Stay Resilient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0E6FF"/>
                </a:solidFill>
              </a:defRPr>
            </a:pPr>
            <a:r>
              <a:t>Three customer journeys  •  Two live apps  •  Agent-led resiliency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2B5C"/>
                </a:solidFill>
              </a:defRPr>
            </a:pPr>
            <a:r>
              <a:t>Demo Flow — Three Customer Journeys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Phase 1 — "Start Resilient"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    Resilient by default: Agent generates guidance + IaC templates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Phase 2 — "Get Resilient"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    Protect what is critical: Meet the apps → IRM assessment → Copilot remediation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Phase 3 — "Stay Resilient"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    Proactive drift resolution: Config drift detection + compliance drills + recovery orchestration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2B5C"/>
                </a:solidFill>
              </a:defRPr>
            </a:pPr>
            <a:r>
              <a:t>Quick Reference — Demo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AKS App URL:          </a:t>
            </a:r>
            <a:r>
              <a:rPr dirty="0">
                <a:hlinkClick r:id="rId3"/>
              </a:rPr>
              <a:t>http://irm-demo-aks.westus2.cloudapp.azure.com</a:t>
            </a:r>
            <a:r>
              <a:rPr lang="en-IN" dirty="0"/>
              <a:t> </a:t>
            </a: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AKS Service Group:    IRMDemoSG5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Day-Zero SG:          IRMDemoSGDayZero (blank — show onboarding)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AKS Resource Group:   zr-demo-rg-4</a:t>
            </a:r>
            <a:r>
              <a:rPr lang="en-IN" dirty="0"/>
              <a:t> (Azure BCDR </a:t>
            </a:r>
            <a:r>
              <a:rPr lang="en-IN"/>
              <a:t>Demo Subscription)</a:t>
            </a: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Region:               West US 2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Note: VM-based app (ASR zonal DR + recovery plan) is being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updated and will be added to a future version of this deck.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0">
                <a:solidFill>
                  <a:srgbClr val="FFFFFF"/>
                </a:solidFill>
              </a:defRPr>
            </a:pPr>
            <a:r>
              <a:t>"Start Resilient"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50E6FF"/>
                </a:solidFill>
              </a:defRPr>
            </a:pPr>
            <a:r>
              <a:t>Resilient by Default — Agent-Led Template Generation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2B5C"/>
                </a:solidFill>
              </a:defRPr>
            </a:pPr>
            <a:r>
              <a:t>Customer Voice — Start Resilient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002B5C"/>
                </a:solidFill>
              </a:defRPr>
            </a:pPr>
            <a:r>
              <a:t>"Help me get started with resiliency by default."</a:t>
            </a:r>
          </a:p>
          <a:p>
            <a:pPr>
              <a:spcAft>
                <a:spcPts val="600"/>
              </a:spcAft>
              <a:defRPr sz="2200">
                <a:solidFill>
                  <a:srgbClr val="002B5C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2200">
                <a:solidFill>
                  <a:srgbClr val="002B5C"/>
                </a:solidFill>
              </a:defRPr>
            </a:pPr>
            <a:r>
              <a:t>Many organizations deploy from IaC templates that were written</a:t>
            </a:r>
          </a:p>
          <a:p>
            <a:pPr>
              <a:spcAft>
                <a:spcPts val="600"/>
              </a:spcAft>
              <a:defRPr sz="2200">
                <a:solidFill>
                  <a:srgbClr val="002B5C"/>
                </a:solidFill>
              </a:defRPr>
            </a:pPr>
            <a:r>
              <a:t>before availability zones even existed.</a:t>
            </a:r>
          </a:p>
          <a:p>
            <a:pPr>
              <a:spcAft>
                <a:spcPts val="600"/>
              </a:spcAft>
              <a:defRPr sz="2200">
                <a:solidFill>
                  <a:srgbClr val="002B5C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2200">
                <a:solidFill>
                  <a:srgbClr val="002B5C"/>
                </a:solidFill>
              </a:defRPr>
            </a:pPr>
            <a:r>
              <a:t>The result: applications go live without the right resilience</a:t>
            </a:r>
          </a:p>
          <a:p>
            <a:pPr>
              <a:spcAft>
                <a:spcPts val="600"/>
              </a:spcAft>
              <a:defRPr sz="2200">
                <a:solidFill>
                  <a:srgbClr val="002B5C"/>
                </a:solidFill>
              </a:defRPr>
            </a:pPr>
            <a:r>
              <a:t>configurations, and costly re-architecture is needed later.</a:t>
            </a:r>
          </a:p>
          <a:p>
            <a:pPr>
              <a:spcAft>
                <a:spcPts val="600"/>
              </a:spcAft>
              <a:defRPr sz="2200">
                <a:solidFill>
                  <a:srgbClr val="002B5C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2200">
                <a:solidFill>
                  <a:srgbClr val="002B5C"/>
                </a:solidFill>
              </a:defRPr>
            </a:pPr>
            <a:r>
              <a:t>The Resiliency Agent ensures that new deployments start with</a:t>
            </a:r>
          </a:p>
          <a:p>
            <a:pPr>
              <a:spcAft>
                <a:spcPts val="600"/>
              </a:spcAft>
              <a:defRPr sz="2200">
                <a:solidFill>
                  <a:srgbClr val="002B5C"/>
                </a:solidFill>
              </a:defRPr>
            </a:pPr>
            <a:r>
              <a:t>the right configuration from day zero — eliminating the need</a:t>
            </a:r>
          </a:p>
          <a:p>
            <a:pPr>
              <a:spcAft>
                <a:spcPts val="600"/>
              </a:spcAft>
              <a:defRPr sz="2200">
                <a:solidFill>
                  <a:srgbClr val="002B5C"/>
                </a:solidFill>
              </a:defRPr>
            </a:pPr>
            <a:r>
              <a:t>to retrofit resilience after the fact.</a:t>
            </a:r>
          </a:p>
          <a:p>
            <a:pPr>
              <a:spcAft>
                <a:spcPts val="600"/>
              </a:spcAft>
              <a:defRPr sz="2200">
                <a:solidFill>
                  <a:srgbClr val="002B5C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2B5C"/>
                </a:solidFill>
              </a:defRPr>
            </a:pPr>
            <a:r>
              <a:t>Demo: Resiliency Agent — Guidance Report + IaC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1. Open the Resiliency Agent (Azure Copilot → Resiliency)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2. Describe your application requirements: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"Deploy an e-commerce app on AKS in West US 2 with a SQL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 database and storage account. Generate zone-resilient Bicep."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3. The agent responds with: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• Guidance report — which services need zone redundancy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• Bicep templates with zone redundancy baked in: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  AKS (zones 1,2,3) | SQL (ZR enabled) | Storage (ZRS) | LB (Standard)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• Cost implications and trade-offs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4. Show the generated templates — ready to deploy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852160"/>
            <a:ext cx="11430000" cy="6400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▶  SWITCH TO PORTAL → Azure Copilot → Resiliency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2B5C"/>
                </a:solidFill>
              </a:defRPr>
            </a:pPr>
            <a:r>
              <a:t>Key Message —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002B5C"/>
                </a:solidFill>
              </a:defRPr>
            </a:pPr>
            <a:r>
              <a:t>"The proof point is that you leave this conversation</a:t>
            </a:r>
          </a:p>
          <a:p>
            <a:pPr>
              <a:spcAft>
                <a:spcPts val="600"/>
              </a:spcAft>
              <a:defRPr sz="2400">
                <a:solidFill>
                  <a:srgbClr val="002B5C"/>
                </a:solidFill>
              </a:defRPr>
            </a:pPr>
            <a:r>
              <a:t>with deployable, resilient-by-default infrastructure-</a:t>
            </a:r>
          </a:p>
          <a:p>
            <a:pPr>
              <a:spcAft>
                <a:spcPts val="600"/>
              </a:spcAft>
              <a:defRPr sz="2400">
                <a:solidFill>
                  <a:srgbClr val="002B5C"/>
                </a:solidFill>
              </a:defRPr>
            </a:pPr>
            <a:r>
              <a:t>as-code in the tooling you already use — Bicep,</a:t>
            </a:r>
          </a:p>
          <a:p>
            <a:pPr>
              <a:spcAft>
                <a:spcPts val="600"/>
              </a:spcAft>
              <a:defRPr sz="2400">
                <a:solidFill>
                  <a:srgbClr val="002B5C"/>
                </a:solidFill>
              </a:defRPr>
            </a:pPr>
            <a:r>
              <a:t>Terraform, or ARM templates.</a:t>
            </a:r>
          </a:p>
          <a:p>
            <a:pPr>
              <a:spcAft>
                <a:spcPts val="600"/>
              </a:spcAft>
              <a:defRPr sz="2400">
                <a:solidFill>
                  <a:srgbClr val="002B5C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2400">
                <a:solidFill>
                  <a:srgbClr val="002B5C"/>
                </a:solidFill>
              </a:defRPr>
            </a:pPr>
            <a:r>
              <a:t>Not a list of recommendations to figure out later."</a:t>
            </a:r>
          </a:p>
          <a:p>
            <a:pPr>
              <a:spcAft>
                <a:spcPts val="600"/>
              </a:spcAft>
              <a:defRPr sz="2400">
                <a:solidFill>
                  <a:srgbClr val="002B5C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0">
                <a:solidFill>
                  <a:srgbClr val="FFFFFF"/>
                </a:solidFill>
              </a:defRPr>
            </a:pPr>
            <a:r>
              <a:t>"Get Resilient"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50E6FF"/>
                </a:solidFill>
              </a:defRPr>
            </a:pPr>
            <a:r>
              <a:t>Protect What Is Critical — Assessment, Gaps &amp; Remediation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2B5C"/>
                </a:solidFill>
              </a:defRPr>
            </a:pPr>
            <a:r>
              <a:t>Meet the Apps — App A: E-Commerce Platform (AKS)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• Frontend pods: product catalog + blob storage for static assets</a:t>
            </a:r>
          </a:p>
          <a:p>
            <a:pPr lvl="1"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• Backend pods: order processing via Azure SQL</a:t>
            </a:r>
          </a:p>
          <a:p>
            <a:pPr lvl="1"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• Container images pulled from Azure Container Registry</a:t>
            </a:r>
          </a:p>
          <a:p>
            <a:pPr lvl="1"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• AKS cluster: 3 nodes across Availability Zones 1, 2, 3</a:t>
            </a:r>
          </a:p>
          <a:p>
            <a:pPr lvl="1"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• Standard Load Balancer routes traffic across zones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Zone Resiliency Status: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✅ AKS Cluster (zones 1/2/3)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✅ Load Balancer (Standard)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✅ Container Registry (zone-redundant)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❌ Azure SQL Database (GP_Gen5_2 — no ZR)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❌ Storage Account (Standard_LRS — no ZR)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852160"/>
            <a:ext cx="11430000" cy="6400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▶  SWITCH TO BROWSER → Open http://irm-demo-aks.westus2.cloudapp.azure.com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2B5C"/>
                </a:solidFill>
              </a:defRPr>
            </a:pPr>
            <a:r>
              <a:t>Meet the Apps — App B: VM-Based Inventory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🚧  Coming Soon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The VM-based inventory management app with Azure Site Recovery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(zonal DR with orchestrated recovery plan) is being updated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and will be added to a future version of this deck.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What it will demonstrate: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  • Monolithic app on zone-pinned VMs (Zone 1)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  • ASR replication: Zone 1 → Zone 2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  • Orchestrated recovery plan with sequenced failover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  • Measured RTO as compliance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852160"/>
            <a:ext cx="11430000" cy="6400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▶  VM APP DEMO — COMING SOON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2B5C"/>
                </a:solidFill>
              </a:defRPr>
            </a:pPr>
            <a:r>
              <a:t>Assess Posture at Scale — IRM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Navigate to: Resiliency → Resiliency Overview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What to show:</a:t>
            </a:r>
          </a:p>
          <a:p>
            <a:pPr lvl="1"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Zone-resilient vs. non-resilient service groups (summary tiles)</a:t>
            </a:r>
          </a:p>
          <a:p>
            <a:pPr lvl="1"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Total resource count broken down by posture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Service Group onboarding: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1. Show IRMDemoSGDayZero (blank) — assign a resiliency goal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(e.g., "Zone Resilient") to activate assessment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2. Then switch to IRMDemoSG5 — pre-created with Goals + Drill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Talking point: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"This is what a platform team sees when managing dozens of apps —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which meet zone resilience goals and which don't.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6061885"/>
            <a:ext cx="11430000" cy="6400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▶  SWITCH TO PORTAL → IRM: Resiliency Overview (at-scale view)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2B5C"/>
                </a:solidFill>
              </a:defRPr>
            </a:pPr>
            <a:r>
              <a:t>Drill into Service Groups — Per-Resource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IRMDemoSG5 (AKS App):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✅ AKS Cluster, Load Balancer → Zone-resilient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❌ SQL Database, Storage Account → Non zone-resilient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Recommendations auto-generated with cost indicators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For each non-resilient resource, show:</a:t>
            </a:r>
          </a:p>
          <a:p>
            <a:pPr lvl="1"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• Step-by-step remediation guidance</a:t>
            </a:r>
          </a:p>
          <a:p>
            <a:pPr lvl="1"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• Qualitative cost indicator (Low / Medium / High)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852160"/>
            <a:ext cx="11430000" cy="6400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▶  STAY IN PORTAL → Click into IRMDemoSG5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2B5C"/>
                </a:solidFill>
              </a:defRPr>
            </a:pPr>
            <a:r>
              <a:t>Close the Gaps — Copilot "Resolve" + IaC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1. Select a SQL Database recommendation → click "Resolve"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2. Copilot guides the user step by step: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• Fixed in place (e.g., portal toggle for zone redundancy)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• Redeployed via automation (e.g., storage LRS → ZRS)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• Manual effort (e.g., architecture changes)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3. Prompt agent to generate IaC template (Bicep) with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zone-redundancy enabled — ready to deploy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852160"/>
            <a:ext cx="11430000" cy="6400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▶  STAY IN PORTAL → Click 'Resolve' on a recommendation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2B5C"/>
                </a:solidFill>
              </a:defRPr>
            </a:pPr>
            <a:r>
              <a:t>Key Message — 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002B5C"/>
                </a:solidFill>
              </a:defRPr>
            </a:pPr>
            <a:r>
              <a:t>"For brownfield estates, this is how you close the gap</a:t>
            </a:r>
          </a:p>
          <a:p>
            <a:pPr>
              <a:spcAft>
                <a:spcPts val="600"/>
              </a:spcAft>
              <a:defRPr sz="2400">
                <a:solidFill>
                  <a:srgbClr val="002B5C"/>
                </a:solidFill>
              </a:defRPr>
            </a:pPr>
            <a:r>
              <a:t>between your current posture and your resiliency goal.</a:t>
            </a:r>
          </a:p>
          <a:p>
            <a:pPr>
              <a:spcAft>
                <a:spcPts val="600"/>
              </a:spcAft>
              <a:defRPr sz="2400">
                <a:solidFill>
                  <a:srgbClr val="002B5C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2400">
                <a:solidFill>
                  <a:srgbClr val="002B5C"/>
                </a:solidFill>
              </a:defRPr>
            </a:pPr>
            <a:r>
              <a:t>IRM doesn't just tell you what's wrong — the agent</a:t>
            </a:r>
          </a:p>
          <a:p>
            <a:pPr>
              <a:spcAft>
                <a:spcPts val="600"/>
              </a:spcAft>
              <a:defRPr sz="2400">
                <a:solidFill>
                  <a:srgbClr val="002B5C"/>
                </a:solidFill>
              </a:defRPr>
            </a:pPr>
            <a:r>
              <a:t>categorizes each fix by effort, generates deployment-</a:t>
            </a:r>
          </a:p>
          <a:p>
            <a:pPr>
              <a:spcAft>
                <a:spcPts val="600"/>
              </a:spcAft>
              <a:defRPr sz="2400">
                <a:solidFill>
                  <a:srgbClr val="002B5C"/>
                </a:solidFill>
              </a:defRPr>
            </a:pPr>
            <a:r>
              <a:t>ready IaC templates, and ranks the top actions worth</a:t>
            </a:r>
          </a:p>
          <a:p>
            <a:pPr>
              <a:spcAft>
                <a:spcPts val="600"/>
              </a:spcAft>
              <a:defRPr sz="2400">
                <a:solidFill>
                  <a:srgbClr val="002B5C"/>
                </a:solidFill>
              </a:defRPr>
            </a:pPr>
            <a:r>
              <a:t>acting on."</a:t>
            </a:r>
          </a:p>
          <a:p>
            <a:pPr>
              <a:spcAft>
                <a:spcPts val="600"/>
              </a:spcAft>
              <a:defRPr sz="2400">
                <a:solidFill>
                  <a:srgbClr val="002B5C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Phase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0">
                <a:solidFill>
                  <a:srgbClr val="FFFFFF"/>
                </a:solidFill>
              </a:defRPr>
            </a:pPr>
            <a:r>
              <a:t>"Stay Resilient"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50E6FF"/>
                </a:solidFill>
              </a:defRPr>
            </a:pPr>
            <a:r>
              <a:t>Proactive Drift Resolution — Drift Detection, Drills &amp; Recovery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2B5C"/>
                </a:solidFill>
              </a:defRPr>
            </a:pPr>
            <a:r>
              <a:t>Detect Configuration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The problem: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"New deployment, old template — am I still resilient?"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What to show: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1. Navigate to a previously assessed service group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2. Trigger a rediscovery — customer initiates a rescan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3. A resource now shows non-compliant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4. Recommendations guide approved corrections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5. The agent can apply course correction immediately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Two hooks for the Field:</a:t>
            </a:r>
          </a:p>
          <a:p>
            <a:pPr lvl="1"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Drift the customer did not know about</a:t>
            </a:r>
          </a:p>
          <a:p>
            <a:pPr lvl="1"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The regulatory calendar — audits require proof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852160"/>
            <a:ext cx="11430000" cy="6400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▶  STAY IN PORTAL → Trigger rediscovery in service group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2B5C"/>
                </a:solidFill>
              </a:defRPr>
            </a:pPr>
            <a:r>
              <a:t>CSA Option: Execute AKS Drill Before the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rPr sz="1200" dirty="0"/>
              <a:t>Recommended: Run the AKS drill BEFORE the customer meeting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endParaRPr sz="1200" dirty="0"/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rPr sz="1200" dirty="0"/>
              <a:t>Why?</a:t>
            </a:r>
          </a:p>
          <a:p>
            <a:pPr lvl="1"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rPr sz="1200" dirty="0"/>
              <a:t>• Avoids live wait times (drills take minutes)</a:t>
            </a:r>
          </a:p>
          <a:p>
            <a:pPr lvl="1"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rPr sz="1200" dirty="0"/>
              <a:t>• The web app Activity Log captures the full drill timeline</a:t>
            </a:r>
          </a:p>
          <a:p>
            <a:pPr lvl="1"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rPr sz="1200" dirty="0"/>
              <a:t>• You walk in with compliance evidence ready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endParaRPr sz="1200" dirty="0"/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rPr sz="1200" dirty="0"/>
              <a:t>Steps: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rPr sz="1200" dirty="0"/>
              <a:t>1. Navigate to IRMDemoSG5 → Resiliency → Drills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rPr sz="1200" dirty="0"/>
              <a:t>2. Execute the drill targeting Zone 1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rPr sz="1200" dirty="0"/>
              <a:t>3. Wait for completion (~5-10 min)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rPr sz="1200" dirty="0"/>
              <a:t>4. Open the web app → click "Infrastructure"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rPr sz="1200" dirty="0"/>
              <a:t>5. The Activity Log shows: zone down → failover → recovery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endParaRPr sz="1200" dirty="0"/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rPr sz="1200" dirty="0"/>
              <a:t>During the demo: show the Activity Log as audit evidence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endParaRPr sz="1200" dirty="0"/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rPr sz="1200" dirty="0"/>
              <a:t>Note: Activity Log uses </a:t>
            </a:r>
            <a:r>
              <a:rPr sz="1200" dirty="0" err="1"/>
              <a:t>localStorage</a:t>
            </a:r>
            <a:r>
              <a:rPr sz="1200" dirty="0"/>
              <a:t> — use the same browser.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852160"/>
            <a:ext cx="11430000" cy="6400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▶  PRE-DEMO: Execute drill, then show Activity Log during customer meeting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2B5C"/>
                </a:solidFill>
              </a:defRPr>
            </a:pPr>
            <a:r>
              <a:t>Compliance Drill: AKS App (IRMDemoSG5)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rPr sz="1200" dirty="0"/>
              <a:t>Goal: Prove AKS compute survives a zone failure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endParaRPr sz="1200" dirty="0"/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rPr sz="1200" dirty="0"/>
              <a:t>Navigate to: IRMDemoSG5 → Resiliency → Drills (pre-created)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endParaRPr sz="1200" dirty="0"/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rPr sz="1200" dirty="0"/>
              <a:t>Fault Designer: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rPr sz="1200" dirty="0"/>
              <a:t>✅ AKS Cluster — fault injection (node shutdown via Chaos Studio)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rPr sz="1200" dirty="0"/>
              <a:t>⛔ SQL Database — excluded (non-ZR, expected failures)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endParaRPr sz="1200" dirty="0"/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rPr sz="1200" dirty="0"/>
              <a:t>Execute drill targeting Zone 1: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rPr sz="1200" dirty="0"/>
              <a:t>1. AKS node pool VMs in Zone 1 shut down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rPr sz="1200" dirty="0"/>
              <a:t>2. Load Balancer routes traffic to zones 2 and 3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rPr sz="1200" dirty="0"/>
              <a:t>3. Open app URL — it continues serving ✅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rPr sz="1200" dirty="0"/>
              <a:t>4. Show Activity Log — timestamped audit trail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rPr sz="1200" dirty="0"/>
              <a:t>5. End drill — nodes return, pods rebalance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endParaRPr sz="1200" dirty="0"/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rPr sz="1200" dirty="0"/>
              <a:t>Post-drill: </a:t>
            </a:r>
            <a:r>
              <a:rPr sz="1200" dirty="0" err="1"/>
              <a:t>kubectl</a:t>
            </a:r>
            <a:r>
              <a:rPr sz="1200" dirty="0"/>
              <a:t> delete pods -l app=frontend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rPr sz="1200" dirty="0"/>
              <a:t>            </a:t>
            </a:r>
            <a:r>
              <a:rPr sz="1200" dirty="0" err="1"/>
              <a:t>kubectl</a:t>
            </a:r>
            <a:r>
              <a:rPr sz="1200" dirty="0"/>
              <a:t> delete pods -l app=backend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852160"/>
            <a:ext cx="11430000" cy="6400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▶  SWITCH TO PORTAL → IRMDemoSG5 → Drills → Execute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2B5C"/>
                </a:solidFill>
              </a:defRPr>
            </a:pPr>
            <a:r>
              <a:t>Recovery Orchestration: VM App — Coming Soon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🚧  Coming Soon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The VM-based drill with orchestrated recovery plan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(ASR zonal failover) is being updated and will be added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to a future version of this deck.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What it will demonstrate: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  • Execute drill targeting Zone 1 → both VMs shut down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  • Execute Recovery Plan (orchestrated sequence):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    1. Worker VM fails over to Zone 2 first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    2. Main App VM fails over to Zone 2 (depends on worker)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  • Validate recovery — app comes back on Zone 2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  • Measure RTO from drill metrics as compliance evidence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t>  • Reprotect (Zone 2 → Zone 1) for future drills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852160"/>
            <a:ext cx="11430000" cy="6400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▶  VM DRILL + RECOVERY PLAN — COMING SOON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2B5C"/>
                </a:solidFill>
              </a:defRPr>
            </a:pPr>
            <a:r>
              <a:t>Key Message — 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002B5C"/>
                </a:solidFill>
              </a:defRPr>
            </a:pPr>
            <a:r>
              <a:t>"Environments drift. New deployments from old templates</a:t>
            </a:r>
          </a:p>
          <a:p>
            <a:pPr>
              <a:spcAft>
                <a:spcPts val="600"/>
              </a:spcAft>
              <a:defRPr sz="2400">
                <a:solidFill>
                  <a:srgbClr val="002B5C"/>
                </a:solidFill>
              </a:defRPr>
            </a:pPr>
            <a:r>
              <a:t>silently regress your posture. Trigger a rediscovery</a:t>
            </a:r>
          </a:p>
          <a:p>
            <a:pPr>
              <a:spcAft>
                <a:spcPts val="600"/>
              </a:spcAft>
              <a:defRPr sz="2400">
                <a:solidFill>
                  <a:srgbClr val="002B5C"/>
                </a:solidFill>
              </a:defRPr>
            </a:pPr>
            <a:r>
              <a:t>and IRM shows you exactly what changed.</a:t>
            </a:r>
          </a:p>
          <a:p>
            <a:pPr>
              <a:spcAft>
                <a:spcPts val="600"/>
              </a:spcAft>
              <a:defRPr sz="2400">
                <a:solidFill>
                  <a:srgbClr val="002B5C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2400">
                <a:solidFill>
                  <a:srgbClr val="002B5C"/>
                </a:solidFill>
              </a:defRPr>
            </a:pPr>
            <a:r>
              <a:t>Compliance drills generate the evidence auditors need.</a:t>
            </a:r>
          </a:p>
          <a:p>
            <a:pPr>
              <a:spcAft>
                <a:spcPts val="600"/>
              </a:spcAft>
              <a:defRPr sz="2400">
                <a:solidFill>
                  <a:srgbClr val="002B5C"/>
                </a:solidFill>
              </a:defRPr>
            </a:pPr>
            <a:r>
              <a:t>Recovery orchestration proves your team can recover</a:t>
            </a:r>
          </a:p>
          <a:p>
            <a:pPr>
              <a:spcAft>
                <a:spcPts val="600"/>
              </a:spcAft>
              <a:defRPr sz="2400">
                <a:solidFill>
                  <a:srgbClr val="002B5C"/>
                </a:solidFill>
              </a:defRPr>
            </a:pPr>
            <a:r>
              <a:t>in the right order, under pressure.</a:t>
            </a:r>
          </a:p>
          <a:p>
            <a:pPr>
              <a:spcAft>
                <a:spcPts val="600"/>
              </a:spcAft>
              <a:defRPr sz="2400">
                <a:solidFill>
                  <a:srgbClr val="002B5C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2400">
                <a:solidFill>
                  <a:srgbClr val="002B5C"/>
                </a:solidFill>
              </a:defRPr>
            </a:pPr>
            <a:r>
              <a:t>That's how you stay resilient."</a:t>
            </a:r>
          </a:p>
          <a:p>
            <a:pPr>
              <a:spcAft>
                <a:spcPts val="600"/>
              </a:spcAft>
              <a:defRPr sz="2400">
                <a:solidFill>
                  <a:srgbClr val="002B5C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2B5C"/>
                </a:solidFill>
              </a:defRPr>
            </a:pPr>
            <a:r>
              <a:t>Three Customer Journeys —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Start Resilient (Greenfield)</a:t>
            </a:r>
          </a:p>
          <a:p>
            <a:pPr lvl="1"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Customer is deploying something new</a:t>
            </a:r>
          </a:p>
          <a:p>
            <a:pPr lvl="1"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Resiliency Agent generates guidance report + IaC templates</a:t>
            </a:r>
          </a:p>
          <a:p>
            <a:pPr lvl="1"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Outcome: Deploys resilient from day zero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Get Resilient (Brownfield)</a:t>
            </a:r>
          </a:p>
          <a:p>
            <a:pPr lvl="1"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Customer is hardening existing estate</a:t>
            </a:r>
          </a:p>
          <a:p>
            <a:pPr lvl="1"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IRM at-scale assessment → drill-down → Copilot remediation</a:t>
            </a:r>
          </a:p>
          <a:p>
            <a:pPr lvl="1"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Outcome: Knows posture, closes gaps with deployment-ready code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Stay Resilient (Steady-state)</a:t>
            </a:r>
          </a:p>
          <a:p>
            <a:pPr lvl="1"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Customer is keeping what's resilient from drifting</a:t>
            </a:r>
          </a:p>
          <a:p>
            <a:pPr lvl="1"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Rediscovery for drift detection + compliance drills + recovery orchestration</a:t>
            </a:r>
          </a:p>
          <a:p>
            <a:pPr lvl="1"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Outcome: Catches regression, proves readiness for audits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  <a:defRPr sz="2200">
                <a:solidFill>
                  <a:srgbClr val="FFFFFF"/>
                </a:solidFill>
              </a:defRPr>
            </a:pPr>
            <a:r>
              <a:t>• Use the Resiliency Agent to generate resilient templates for new deployments</a:t>
            </a: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</a:defRPr>
            </a:pPr>
            <a:endParaRPr/>
          </a:p>
          <a:p>
            <a:pPr lvl="1">
              <a:spcAft>
                <a:spcPts val="600"/>
              </a:spcAft>
              <a:defRPr sz="2200">
                <a:solidFill>
                  <a:srgbClr val="FFFFFF"/>
                </a:solidFill>
              </a:defRPr>
            </a:pPr>
            <a:r>
              <a:t>• Identify 2-3 critical applications to onboard as Service Groups</a:t>
            </a: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</a:defRPr>
            </a:pPr>
            <a:endParaRPr/>
          </a:p>
          <a:p>
            <a:pPr lvl="1">
              <a:spcAft>
                <a:spcPts val="600"/>
              </a:spcAft>
              <a:defRPr sz="2200">
                <a:solidFill>
                  <a:srgbClr val="FFFFFF"/>
                </a:solidFill>
              </a:defRPr>
            </a:pPr>
            <a:r>
              <a:t>• Run an assessment — see your zone resiliency posture today</a:t>
            </a: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</a:defRPr>
            </a:pPr>
            <a:endParaRPr/>
          </a:p>
          <a:p>
            <a:pPr lvl="1">
              <a:spcAft>
                <a:spcPts val="600"/>
              </a:spcAft>
              <a:defRPr sz="2200">
                <a:solidFill>
                  <a:srgbClr val="FFFFFF"/>
                </a:solidFill>
              </a:defRPr>
            </a:pPr>
            <a:r>
              <a:t>• Create your first drill — prove what works, find what doesn't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0E6FF"/>
                </a:solidFill>
              </a:defRPr>
            </a:pPr>
            <a:endParaRPr lang="en-IN" dirty="0"/>
          </a:p>
          <a:p>
            <a:pPr>
              <a:defRPr sz="1800" b="0">
                <a:solidFill>
                  <a:srgbClr val="50E6FF"/>
                </a:solidFill>
              </a:defRPr>
            </a:pPr>
            <a:r>
              <a:rPr dirty="0"/>
              <a:t>Contact: azureresiliency@microsoft.com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2B5C"/>
                </a:solidFill>
              </a:defRPr>
            </a:pPr>
            <a:r>
              <a:t>Appendix: Pre-Demo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000" dirty="0"/>
              <a:t>Before presenting, verify: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endParaRPr sz="1000" dirty="0"/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000" dirty="0"/>
              <a:t>□ AKS app is live: http://irm-demo-aks.westus2.cloudapp.azure.com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000" dirty="0"/>
              <a:t>□ IRM portal loads: IRMDemoSG5 + IRMDemoSGDayZero visible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000" dirty="0"/>
              <a:t>□ Resiliency Agent accessible (Azure Copilot → Resiliency)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000" dirty="0"/>
              <a:t>□ Pre-open browser tabs: app URL + IRM portal + Copilot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endParaRPr sz="1000" dirty="0"/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000" dirty="0"/>
              <a:t>Optional — Execute AKS drill ahead of time: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000" dirty="0"/>
              <a:t>□ Run drill on IRMDemoSG5 (Zone 1) ~30 min before demo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000" dirty="0"/>
              <a:t>□ Keep AKS app browser tab open during drill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000" dirty="0"/>
              <a:t>□ Verify Activity Log captured events (Infrastructure panel)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endParaRPr sz="1000" dirty="0"/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000" dirty="0"/>
              <a:t>Post-drill pod rebalancing: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000" dirty="0"/>
              <a:t>□ </a:t>
            </a:r>
            <a:r>
              <a:rPr sz="1000" dirty="0" err="1"/>
              <a:t>kubectl</a:t>
            </a:r>
            <a:r>
              <a:rPr sz="1000" dirty="0"/>
              <a:t> delete pods -l app=frontend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000" dirty="0"/>
              <a:t>□ </a:t>
            </a:r>
            <a:r>
              <a:rPr sz="1000" dirty="0" err="1"/>
              <a:t>kubectl</a:t>
            </a:r>
            <a:r>
              <a:rPr sz="1000" dirty="0"/>
              <a:t> delete pods -l app=backend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000" dirty="0"/>
              <a:t>□ Verify pods spread across zones 1, 2, 3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000" dirty="0"/>
              <a:t>□ If zone 3 node missing workload=app label, re-add it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endParaRPr sz="1000" dirty="0"/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000" dirty="0"/>
              <a:t>If AKS app is down: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000" dirty="0"/>
              <a:t>• </a:t>
            </a:r>
            <a:r>
              <a:rPr sz="1000" dirty="0" err="1"/>
              <a:t>az</a:t>
            </a:r>
            <a:r>
              <a:rPr sz="1000" dirty="0"/>
              <a:t> </a:t>
            </a:r>
            <a:r>
              <a:rPr sz="1000" dirty="0" err="1"/>
              <a:t>aks</a:t>
            </a:r>
            <a:r>
              <a:rPr sz="1000" dirty="0"/>
              <a:t> get-credentials + </a:t>
            </a:r>
            <a:r>
              <a:rPr sz="1000" dirty="0" err="1"/>
              <a:t>kubectl</a:t>
            </a:r>
            <a:r>
              <a:rPr sz="1000" dirty="0"/>
              <a:t> get pods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000" dirty="0"/>
              <a:t>• Pods may need restart after a previous drill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2809</Words>
  <Application>Microsoft Office PowerPoint</Application>
  <PresentationFormat>Widescreen</PresentationFormat>
  <Paragraphs>328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 Balaji</cp:lastModifiedBy>
  <cp:revision>5</cp:revision>
  <dcterms:created xsi:type="dcterms:W3CDTF">2013-01-27T09:14:16Z</dcterms:created>
  <dcterms:modified xsi:type="dcterms:W3CDTF">2026-08-13T11:22:46Z</dcterms:modified>
  <cp:category/>
</cp:coreProperties>
</file>